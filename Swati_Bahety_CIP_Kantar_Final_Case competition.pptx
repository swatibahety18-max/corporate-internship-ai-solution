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bahety" userId="9f65fb3ecdc30641" providerId="LiveId" clId="{D3079838-F05C-4E78-81E4-382CE855A6ED}"/>
    <pc:docChg chg="modSld">
      <pc:chgData name="swati bahety" userId="9f65fb3ecdc30641" providerId="LiveId" clId="{D3079838-F05C-4E78-81E4-382CE855A6ED}" dt="2026-08-14T05:38:58.123" v="13" actId="1076"/>
      <pc:docMkLst>
        <pc:docMk/>
      </pc:docMkLst>
      <pc:sldChg chg="addSp modSp mod">
        <pc:chgData name="swati bahety" userId="9f65fb3ecdc30641" providerId="LiveId" clId="{D3079838-F05C-4E78-81E4-382CE855A6ED}" dt="2026-08-14T05:38:58.123" v="13" actId="1076"/>
        <pc:sldMkLst>
          <pc:docMk/>
          <pc:sldMk cId="238405990" sldId="268"/>
        </pc:sldMkLst>
        <pc:spChg chg="mod">
          <ac:chgData name="swati bahety" userId="9f65fb3ecdc30641" providerId="LiveId" clId="{D3079838-F05C-4E78-81E4-382CE855A6ED}" dt="2026-08-14T05:38:55.501" v="12" actId="14100"/>
          <ac:spMkLst>
            <pc:docMk/>
            <pc:sldMk cId="238405990" sldId="268"/>
            <ac:spMk id="10" creationId="{DCD96818-E7AF-41F9-B55B-E55D4F877239}"/>
          </ac:spMkLst>
        </pc:spChg>
        <pc:spChg chg="mod">
          <ac:chgData name="swati bahety" userId="9f65fb3ecdc30641" providerId="LiveId" clId="{D3079838-F05C-4E78-81E4-382CE855A6ED}" dt="2026-08-14T05:37:49.696" v="1" actId="6549"/>
          <ac:spMkLst>
            <pc:docMk/>
            <pc:sldMk cId="238405990" sldId="268"/>
            <ac:spMk id="11" creationId="{1BE64D14-BE29-4DF6-BFE6-BF8D77CD9803}"/>
          </ac:spMkLst>
        </pc:spChg>
        <pc:spChg chg="mod">
          <ac:chgData name="swati bahety" userId="9f65fb3ecdc30641" providerId="LiveId" clId="{D3079838-F05C-4E78-81E4-382CE855A6ED}" dt="2026-08-14T05:37:46.864" v="0" actId="6549"/>
          <ac:spMkLst>
            <pc:docMk/>
            <pc:sldMk cId="238405990" sldId="268"/>
            <ac:spMk id="12" creationId="{0BF71C74-D768-41E7-AB70-83792F7860D7}"/>
          </ac:spMkLst>
        </pc:spChg>
        <pc:picChg chg="add mod">
          <ac:chgData name="swati bahety" userId="9f65fb3ecdc30641" providerId="LiveId" clId="{D3079838-F05C-4E78-81E4-382CE855A6ED}" dt="2026-08-14T05:38:58.123" v="13" actId="1076"/>
          <ac:picMkLst>
            <pc:docMk/>
            <pc:sldMk cId="238405990" sldId="268"/>
            <ac:picMk id="4" creationId="{7CFF4423-E58D-23D7-B2C9-CEDAB2FCB5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992B329-4A8C-4711-8240-7C9A2FB0D4C8}"/>
              </a:ext>
            </a:extLst>
          </p:cNvPr>
          <p:cNvSpPr>
            <a:spLocks noGrp="1"/>
          </p:cNvSpPr>
          <p:nvPr/>
        </p:nvSpPr>
        <p:spPr>
          <a:xfrm>
            <a:off x="312174" y="5784133"/>
            <a:ext cx="10820400" cy="0"/>
          </a:xfrm>
          <a:prstGeom prst="line">
            <a:avLst/>
          </a:prstGeom>
          <a:ln w="28575">
            <a:solidFill>
              <a:srgbClr val="4E7FA8"/>
            </a:solidFill>
            <a:prstDash val="solid"/>
          </a:ln>
        </p:spPr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671484" cy="61943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685902" y="0"/>
            <a:ext cx="1506098" cy="5211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3954FD-BEE8-4471-90BC-A9F3846CB2EF}"/>
              </a:ext>
            </a:extLst>
          </p:cNvPr>
          <p:cNvSpPr>
            <a:spLocks noGrp="1"/>
          </p:cNvSpPr>
          <p:nvPr/>
        </p:nvSpPr>
        <p:spPr>
          <a:xfrm>
            <a:off x="685799" y="1543665"/>
            <a:ext cx="3630561" cy="3803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1600" b="1" dirty="0">
                <a:solidFill>
                  <a:srgbClr val="4E7FA8"/>
                </a:solidFill>
              </a:rPr>
              <a:t>CORPORATE INTERNSHIP PROGRAMME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04D57-96B5-44BB-994C-6793D299B0BD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8239125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02A43"/>
                </a:solidFill>
              </a:defRPr>
            </a:pPr>
            <a:r>
              <a:rPr sz="3150" b="1" dirty="0">
                <a:solidFill>
                  <a:srgbClr val="102A43"/>
                </a:solidFill>
              </a:rPr>
              <a:t>AI enabled election operations intelligence system for real time workflow monitoring and exception management at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DC36AE-ACE2-42A5-B010-7E1A6134DC4A}"/>
              </a:ext>
            </a:extLst>
          </p:cNvPr>
          <p:cNvSpPr>
            <a:spLocks noGrp="1"/>
          </p:cNvSpPr>
          <p:nvPr/>
        </p:nvSpPr>
        <p:spPr>
          <a:xfrm>
            <a:off x="629265" y="3923071"/>
            <a:ext cx="5390535" cy="896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02B38"/>
                </a:solidFill>
              </a:defRPr>
            </a:pPr>
            <a:r>
              <a:rPr sz="1350" b="0">
                <a:solidFill>
                  <a:srgbClr val="202B38"/>
                </a:solidFill>
              </a:rPr>
              <a:t>Swati Bahety</a:t>
            </a:r>
          </a:p>
          <a:p>
            <a:pPr algn="l">
              <a:defRPr sz="1350" b="0">
                <a:solidFill>
                  <a:srgbClr val="202B38"/>
                </a:solidFill>
              </a:defRPr>
            </a:pPr>
            <a:r>
              <a:rPr sz="1350" b="0">
                <a:solidFill>
                  <a:srgbClr val="202B38"/>
                </a:solidFill>
              </a:rPr>
              <a:t>PGDM 2025-2027 | Marketing Major | Operations Minor</a:t>
            </a:r>
          </a:p>
          <a:p>
            <a:pPr algn="l">
              <a:defRPr sz="1350" b="0">
                <a:solidFill>
                  <a:srgbClr val="202B38"/>
                </a:solidFill>
              </a:defRPr>
            </a:pPr>
            <a:r>
              <a:rPr sz="1350" b="0">
                <a:solidFill>
                  <a:srgbClr val="202B38"/>
                </a:solidFill>
              </a:rPr>
              <a:t>Fortune Institute of International Business (FIIB)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A4AE52-47FF-4C36-AD57-57C80F599D90}"/>
              </a:ext>
            </a:extLst>
          </p:cNvPr>
          <p:cNvSpPr>
            <a:spLocks noGrp="1"/>
          </p:cNvSpPr>
          <p:nvPr/>
        </p:nvSpPr>
        <p:spPr>
          <a:xfrm>
            <a:off x="8524875" y="4419600"/>
            <a:ext cx="2714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endParaRPr sz="825" b="1" dirty="0">
              <a:solidFill>
                <a:srgbClr val="4E7FA8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E0F2B-9FF7-4162-AC6E-A8729DF69E04}"/>
              </a:ext>
            </a:extLst>
          </p:cNvPr>
          <p:cNvSpPr>
            <a:spLocks noGrp="1"/>
          </p:cNvSpPr>
          <p:nvPr/>
        </p:nvSpPr>
        <p:spPr>
          <a:xfrm>
            <a:off x="8524875" y="471487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E7FA8"/>
                </a:solidFill>
              </a:defRPr>
            </a:pPr>
            <a:endParaRPr sz="1200" b="1" dirty="0">
              <a:solidFill>
                <a:srgbClr val="4E7FA8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FC506-7CCB-47F3-8056-D54382D28E24}"/>
              </a:ext>
            </a:extLst>
          </p:cNvPr>
          <p:cNvSpPr>
            <a:spLocks noGrp="1"/>
          </p:cNvSpPr>
          <p:nvPr/>
        </p:nvSpPr>
        <p:spPr>
          <a:xfrm>
            <a:off x="344129" y="5857875"/>
            <a:ext cx="5104171" cy="2577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 dirty="0">
                <a:solidFill>
                  <a:srgbClr val="5D6B78"/>
                </a:solidFill>
              </a:rPr>
              <a:t>Primary Research Intern | 14 April 2026 - 3 July 2026</a:t>
            </a:r>
          </a:p>
        </p:txBody>
      </p:sp>
    </p:spTree>
    <p:extLst>
      <p:ext uri="{BB962C8B-B14F-4D97-AF65-F5344CB8AC3E}">
        <p14:creationId xmlns:p14="http://schemas.microsoft.com/office/powerpoint/2010/main" val="81120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D6F56388-E39C-48BE-811C-DC7BC16175AF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94D710-B956-48A9-8C37-C2D65CFCA6D1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CONTEXT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6303" y="6307099"/>
            <a:ext cx="666750" cy="26483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A0A56-BEA5-431A-A297-7CC2378930F9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563878-39AA-40A8-B3DA-A8AC5BC35306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EC495-EA0A-44E8-806B-EBA0FADCF39C}"/>
              </a:ext>
            </a:extLst>
          </p:cNvPr>
          <p:cNvSpPr>
            <a:spLocks noGrp="1"/>
          </p:cNvSpPr>
          <p:nvPr/>
        </p:nvSpPr>
        <p:spPr>
          <a:xfrm>
            <a:off x="422788" y="707923"/>
            <a:ext cx="11181735" cy="7208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 dirty="0">
                <a:solidFill>
                  <a:srgbClr val="102A43"/>
                </a:solidFill>
              </a:rPr>
              <a:t>Kantar’s election operations sit where data quality, speed and decision-making converge.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288B2A-CF06-4634-9DA2-7189C16B1E23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The report places the internship in the Market Research, Insights and Analytics industry and the Election Research &amp; Operations business line.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DB457C5-BEDE-460E-828F-9435AC488EF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48801B-93FD-46F0-A05B-8CF6AA3DA4AD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85750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71B82D-41EB-4554-9904-C5C83CC6C834}"/>
              </a:ext>
            </a:extLst>
          </p:cNvPr>
          <p:cNvSpPr>
            <a:spLocks noGrp="1"/>
          </p:cNvSpPr>
          <p:nvPr/>
        </p:nvSpPr>
        <p:spPr>
          <a:xfrm>
            <a:off x="895350" y="23241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E7FA8"/>
                </a:solidFill>
              </a:defRPr>
            </a:pPr>
            <a:r>
              <a:rPr sz="1050" b="1">
                <a:solidFill>
                  <a:srgbClr val="4E7FA8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49D9B-F361-48A3-AF07-89F37C82E1DB}"/>
              </a:ext>
            </a:extLst>
          </p:cNvPr>
          <p:cNvSpPr>
            <a:spLocks noGrp="1"/>
          </p:cNvSpPr>
          <p:nvPr/>
        </p:nvSpPr>
        <p:spPr>
          <a:xfrm>
            <a:off x="895350" y="273367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What Kantar does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76E8D-4F8C-4B08-A248-AE5D1BBAB195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238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Provides research, analytics and operational intelligence to support informed business decisions.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9E4046-F928-4FC7-B00D-DC6E26F7BA3A}"/>
              </a:ext>
            </a:extLst>
          </p:cNvPr>
          <p:cNvSpPr>
            <a:spLocks noGrp="1"/>
          </p:cNvSpPr>
          <p:nvPr/>
        </p:nvSpPr>
        <p:spPr>
          <a:xfrm>
            <a:off x="4046588" y="2144661"/>
            <a:ext cx="2857500" cy="2333625"/>
          </a:xfrm>
          <a:prstGeom prst="rect">
            <a:avLst/>
          </a:prstGeom>
          <a:solidFill>
            <a:srgbClr val="EAF1F6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5452A9-3068-4C4F-9A06-6D2EC25E626F}"/>
              </a:ext>
            </a:extLst>
          </p:cNvPr>
          <p:cNvSpPr>
            <a:spLocks noGrp="1"/>
          </p:cNvSpPr>
          <p:nvPr/>
        </p:nvSpPr>
        <p:spPr>
          <a:xfrm>
            <a:off x="4305300" y="23241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E7FA8"/>
                </a:solidFill>
              </a:defRPr>
            </a:pPr>
            <a:r>
              <a:rPr sz="1050" b="1">
                <a:solidFill>
                  <a:srgbClr val="4E7FA8"/>
                </a:solidFill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6A7119-0D9D-4EE9-A9D3-C5E4E65AB092}"/>
              </a:ext>
            </a:extLst>
          </p:cNvPr>
          <p:cNvSpPr>
            <a:spLocks noGrp="1"/>
          </p:cNvSpPr>
          <p:nvPr/>
        </p:nvSpPr>
        <p:spPr>
          <a:xfrm>
            <a:off x="4374126" y="2674681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43"/>
                </a:solidFill>
              </a:defRPr>
            </a:pPr>
            <a:r>
              <a:rPr sz="1725" b="1" dirty="0">
                <a:solidFill>
                  <a:srgbClr val="102A43"/>
                </a:solidFill>
              </a:rPr>
              <a:t>Business context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31E20D-0DFE-4BC3-A4F9-D919F7A27391}"/>
              </a:ext>
            </a:extLst>
          </p:cNvPr>
          <p:cNvSpPr>
            <a:spLocks noGrp="1"/>
          </p:cNvSpPr>
          <p:nvPr/>
        </p:nvSpPr>
        <p:spPr>
          <a:xfrm>
            <a:off x="4344629" y="3194870"/>
            <a:ext cx="238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78"/>
                </a:solidFill>
              </a:defRPr>
            </a:pPr>
            <a:r>
              <a:rPr sz="1200" b="0" dirty="0">
                <a:solidFill>
                  <a:srgbClr val="5D6B78"/>
                </a:solidFill>
              </a:rPr>
              <a:t>Election operations require accurate, timely constituency reporting amid high coordination pressure and varying ECI result-release times.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417C2-651C-404D-A110-AB14F1DA0745}"/>
              </a:ext>
            </a:extLst>
          </p:cNvPr>
          <p:cNvSpPr>
            <a:spLocks noGrp="1"/>
          </p:cNvSpPr>
          <p:nvPr/>
        </p:nvSpPr>
        <p:spPr>
          <a:xfrm>
            <a:off x="7505700" y="2095500"/>
            <a:ext cx="285750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A607B4-34D9-4C71-8091-9C6AAA4C973B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E7FA8"/>
                </a:solidFill>
              </a:defRPr>
            </a:pPr>
            <a:r>
              <a:rPr sz="1050" b="1">
                <a:solidFill>
                  <a:srgbClr val="4E7FA8"/>
                </a:solidFill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DE77A4-15B4-4873-B2A9-5903881E5100}"/>
              </a:ext>
            </a:extLst>
          </p:cNvPr>
          <p:cNvSpPr>
            <a:spLocks noGrp="1"/>
          </p:cNvSpPr>
          <p:nvPr/>
        </p:nvSpPr>
        <p:spPr>
          <a:xfrm>
            <a:off x="7715250" y="273367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Why this internship mattered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87A2EF-75FB-4311-B668-E3A655447B64}"/>
              </a:ext>
            </a:extLst>
          </p:cNvPr>
          <p:cNvSpPr>
            <a:spLocks noGrp="1"/>
          </p:cNvSpPr>
          <p:nvPr/>
        </p:nvSpPr>
        <p:spPr>
          <a:xfrm>
            <a:off x="7715250" y="3371850"/>
            <a:ext cx="238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The role exposed the operational gap between live data synchronization and team-level visibility.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DD8013-CDD2-47C4-8DF9-1AFB4C520D32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981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02B38"/>
                </a:solidFill>
              </a:defRPr>
            </a:pPr>
            <a:r>
              <a:rPr sz="1400" b="1" dirty="0">
                <a:solidFill>
                  <a:srgbClr val="202B38"/>
                </a:solidFill>
              </a:rPr>
              <a:t>Industry: Market Research, Insights &amp; Analytics | Business line: Election Research &amp; Operations Management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A3AB425-F0ED-49B8-8179-E7C5B5638F2C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90297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C0F105-4178-4433-A21C-DD273FEE6396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476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D6B78"/>
                </a:solidFill>
              </a:defRPr>
            </a:pPr>
            <a:r>
              <a:rPr sz="825" b="0">
                <a:solidFill>
                  <a:srgbClr val="5D6B78"/>
                </a:solidFill>
              </a:rPr>
              <a:t>Source: CIP report, Industry and Organizational Context.</a:t>
            </a:r>
          </a:p>
        </p:txBody>
      </p:sp>
    </p:spTree>
    <p:extLst>
      <p:ext uri="{BB962C8B-B14F-4D97-AF65-F5344CB8AC3E}">
        <p14:creationId xmlns:p14="http://schemas.microsoft.com/office/powerpoint/2010/main" val="102976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B37E1FF2-37FE-4F73-8D4F-58D337C39DCF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0E6DCB-2FE8-4AAC-A66F-4F974CBD6698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ROLE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3890CC-D0A8-42D9-B58E-77A157D6295C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23E38C-4BCC-4D44-A9B2-38C07F7E665B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66CA47-705A-4045-BAE9-B1B6EC74418D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As a Primary Research Intern, I worked across the live election reporting workflow.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67FCE77-089A-4A32-81EC-1B09C44898C5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87BE7D-23F5-4296-88E5-FFFD6BC2F3C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2860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8DA0FA-ABAD-4D88-B008-462EB0C5F0D4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7625" cy="2343150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19C360-D587-49EE-B668-6C4D2D66C1AA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Monitor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48309F-C237-447C-B755-291D3239A48F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000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Live ECI updates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Constituency activity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Round-wise progress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F4A43AC-B833-45AC-A058-99681BC3176E}"/>
              </a:ext>
            </a:extLst>
          </p:cNvPr>
          <p:cNvSpPr>
            <a:spLocks noGrp="1"/>
          </p:cNvSpPr>
          <p:nvPr/>
        </p:nvSpPr>
        <p:spPr>
          <a:xfrm>
            <a:off x="2971800" y="3438525"/>
            <a:ext cx="3524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42B12AC-5F5A-4AAB-B83F-9067DD11A4FD}"/>
              </a:ext>
            </a:extLst>
          </p:cNvPr>
          <p:cNvSpPr>
            <a:spLocks noGrp="1"/>
          </p:cNvSpPr>
          <p:nvPr/>
        </p:nvSpPr>
        <p:spPr>
          <a:xfrm>
            <a:off x="3247034" y="34385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E5DD8EE-26BC-45E1-BF3D-3F46AA38CDD6}"/>
              </a:ext>
            </a:extLst>
          </p:cNvPr>
          <p:cNvSpPr>
            <a:spLocks noGrp="1"/>
          </p:cNvSpPr>
          <p:nvPr/>
        </p:nvSpPr>
        <p:spPr>
          <a:xfrm>
            <a:off x="3247034" y="34012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CD553-C09C-4703-A1CD-C74E099A6CD4}"/>
              </a:ext>
            </a:extLst>
          </p:cNvPr>
          <p:cNvSpPr>
            <a:spLocks noGrp="1"/>
          </p:cNvSpPr>
          <p:nvPr/>
        </p:nvSpPr>
        <p:spPr>
          <a:xfrm>
            <a:off x="3467100" y="2266950"/>
            <a:ext cx="22860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567E26-FD2D-4545-8F8E-15C07D2C558A}"/>
              </a:ext>
            </a:extLst>
          </p:cNvPr>
          <p:cNvSpPr>
            <a:spLocks noGrp="1"/>
          </p:cNvSpPr>
          <p:nvPr/>
        </p:nvSpPr>
        <p:spPr>
          <a:xfrm>
            <a:off x="3467100" y="2266950"/>
            <a:ext cx="47625" cy="2343150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C66808-034E-4427-9F0C-7235D2B54289}"/>
              </a:ext>
            </a:extLst>
          </p:cNvPr>
          <p:cNvSpPr>
            <a:spLocks noGrp="1"/>
          </p:cNvSpPr>
          <p:nvPr/>
        </p:nvSpPr>
        <p:spPr>
          <a:xfrm>
            <a:off x="3638550" y="24193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Synchronize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3C216E-F007-4624-807F-B317751AF523}"/>
              </a:ext>
            </a:extLst>
          </p:cNvPr>
          <p:cNvSpPr>
            <a:spLocks noGrp="1"/>
          </p:cNvSpPr>
          <p:nvPr/>
        </p:nvSpPr>
        <p:spPr>
          <a:xfrm>
            <a:off x="3638550" y="2724150"/>
            <a:ext cx="2000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Constituency data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Update timelines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Reporting records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01686F0-8050-4BA5-9AE6-9D4C110B0E89}"/>
              </a:ext>
            </a:extLst>
          </p:cNvPr>
          <p:cNvSpPr>
            <a:spLocks noGrp="1"/>
          </p:cNvSpPr>
          <p:nvPr/>
        </p:nvSpPr>
        <p:spPr>
          <a:xfrm>
            <a:off x="5753100" y="3438525"/>
            <a:ext cx="3524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EB7A68A-52B1-492F-9214-5DD389E9550C}"/>
              </a:ext>
            </a:extLst>
          </p:cNvPr>
          <p:cNvSpPr>
            <a:spLocks noGrp="1"/>
          </p:cNvSpPr>
          <p:nvPr/>
        </p:nvSpPr>
        <p:spPr>
          <a:xfrm>
            <a:off x="6028334" y="34385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52AFAEA-F37B-4C23-A445-3A48C5A6D117}"/>
              </a:ext>
            </a:extLst>
          </p:cNvPr>
          <p:cNvSpPr>
            <a:spLocks noGrp="1"/>
          </p:cNvSpPr>
          <p:nvPr/>
        </p:nvSpPr>
        <p:spPr>
          <a:xfrm>
            <a:off x="6028334" y="34012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272AC7-95AF-46CC-95F7-23F70860599D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22860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4B91CA-E387-484D-BB42-EDA511D48B6F}"/>
              </a:ext>
            </a:extLst>
          </p:cNvPr>
          <p:cNvSpPr>
            <a:spLocks noGrp="1"/>
          </p:cNvSpPr>
          <p:nvPr/>
        </p:nvSpPr>
        <p:spPr>
          <a:xfrm>
            <a:off x="6248400" y="2266950"/>
            <a:ext cx="47625" cy="2343150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83ACD5-3DA0-4F2A-8B7F-62C8493265E0}"/>
              </a:ext>
            </a:extLst>
          </p:cNvPr>
          <p:cNvSpPr>
            <a:spLocks noGrp="1"/>
          </p:cNvSpPr>
          <p:nvPr/>
        </p:nvSpPr>
        <p:spPr>
          <a:xfrm>
            <a:off x="6419850" y="24193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Validate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E8C5DF-1362-4F38-B311-0D28806F46D3}"/>
              </a:ext>
            </a:extLst>
          </p:cNvPr>
          <p:cNvSpPr>
            <a:spLocks noGrp="1"/>
          </p:cNvSpPr>
          <p:nvPr/>
        </p:nvSpPr>
        <p:spPr>
          <a:xfrm>
            <a:off x="6419850" y="2724150"/>
            <a:ext cx="2000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SLA compliance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Data quality checks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Workflow exceptions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73CA6F0-97E3-47D1-B0A7-B84D6066E754}"/>
              </a:ext>
            </a:extLst>
          </p:cNvPr>
          <p:cNvSpPr>
            <a:spLocks noGrp="1"/>
          </p:cNvSpPr>
          <p:nvPr/>
        </p:nvSpPr>
        <p:spPr>
          <a:xfrm>
            <a:off x="8534400" y="3438525"/>
            <a:ext cx="3524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826A9B15-7890-452C-BCB0-EE450D99EF01}"/>
              </a:ext>
            </a:extLst>
          </p:cNvPr>
          <p:cNvSpPr>
            <a:spLocks noGrp="1"/>
          </p:cNvSpPr>
          <p:nvPr/>
        </p:nvSpPr>
        <p:spPr>
          <a:xfrm>
            <a:off x="8809634" y="34385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663EC14-50A3-42C6-A9C2-A0BE465D414C}"/>
              </a:ext>
            </a:extLst>
          </p:cNvPr>
          <p:cNvSpPr>
            <a:spLocks noGrp="1"/>
          </p:cNvSpPr>
          <p:nvPr/>
        </p:nvSpPr>
        <p:spPr>
          <a:xfrm>
            <a:off x="8809634" y="34012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115934-328D-4EF5-9ABF-5FDC7369A838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22860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540765-8AC1-4C01-B346-747AD01FEC1B}"/>
              </a:ext>
            </a:extLst>
          </p:cNvPr>
          <p:cNvSpPr>
            <a:spLocks noGrp="1"/>
          </p:cNvSpPr>
          <p:nvPr/>
        </p:nvSpPr>
        <p:spPr>
          <a:xfrm>
            <a:off x="9029700" y="2266950"/>
            <a:ext cx="47625" cy="2343150"/>
          </a:xfrm>
          <a:prstGeom prst="rect">
            <a:avLst/>
          </a:prstGeom>
          <a:solidFill>
            <a:srgbClr val="367A5A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92E759-8733-4428-8562-86F9A08635A1}"/>
              </a:ext>
            </a:extLst>
          </p:cNvPr>
          <p:cNvSpPr>
            <a:spLocks noGrp="1"/>
          </p:cNvSpPr>
          <p:nvPr/>
        </p:nvSpPr>
        <p:spPr>
          <a:xfrm>
            <a:off x="9201150" y="241935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Coordinate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0A559A-F354-46B1-A300-AD5A93315AD1}"/>
              </a:ext>
            </a:extLst>
          </p:cNvPr>
          <p:cNvSpPr>
            <a:spLocks noGrp="1"/>
          </p:cNvSpPr>
          <p:nvPr/>
        </p:nvSpPr>
        <p:spPr>
          <a:xfrm>
            <a:off x="9201150" y="2724150"/>
            <a:ext cx="2000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RAs and TLs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Escalation support</a:t>
            </a:r>
          </a:p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Operational continuity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7C2A8CB-0319-4012-A77B-773D97226920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Business interface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E11F01-D3D8-4CA4-AA80-A22F502FB72B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904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Research Associates (data synchronization)  &lt;-&gt;  Team Leaders (monitoring, validation and escalation)</a:t>
            </a:r>
          </a:p>
        </p:txBody>
      </p:sp>
    </p:spTree>
    <p:extLst>
      <p:ext uri="{BB962C8B-B14F-4D97-AF65-F5344CB8AC3E}">
        <p14:creationId xmlns:p14="http://schemas.microsoft.com/office/powerpoint/2010/main" val="58580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71544937-4BFA-4943-9C3A-790B479A646C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950261-4350-4E19-8975-8B53FF118A18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PROJECT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46CE66-1D06-46C2-BBDA-9D2A91EC2BE5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889006-B17E-4616-8D4D-73CFCFE3A782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9AEFE5-0D87-46C5-92E0-70B9BD8D9807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project translated an observed workflow gap into an AI-enabled operational intelligence prototype.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1FC4FC37-3EB2-42A3-BD97-87B3BE501D6B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1E2130-9CEC-41B4-93F1-15A3AC8A32E7}"/>
              </a:ext>
            </a:extLst>
          </p:cNvPr>
          <p:cNvSpPr>
            <a:spLocks noGrp="1"/>
          </p:cNvSpPr>
          <p:nvPr/>
        </p:nvSpPr>
        <p:spPr>
          <a:xfrm>
            <a:off x="1714500" y="2095500"/>
            <a:ext cx="8096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A02CF9-E374-4A5E-B2BA-8DBB82102921}"/>
              </a:ext>
            </a:extLst>
          </p:cNvPr>
          <p:cNvSpPr>
            <a:spLocks noGrp="1"/>
          </p:cNvSpPr>
          <p:nvPr/>
        </p:nvSpPr>
        <p:spPr>
          <a:xfrm>
            <a:off x="1943100" y="2266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E7FA8"/>
                </a:solidFill>
              </a:defRPr>
            </a:pPr>
            <a:r>
              <a:rPr sz="975" b="1">
                <a:solidFill>
                  <a:srgbClr val="4E7FA8"/>
                </a:solidFill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056C5-F5D4-4F6C-8A1E-63AD2A817E78}"/>
              </a:ext>
            </a:extLst>
          </p:cNvPr>
          <p:cNvSpPr>
            <a:spLocks noGrp="1"/>
          </p:cNvSpPr>
          <p:nvPr/>
        </p:nvSpPr>
        <p:spPr>
          <a:xfrm>
            <a:off x="2571750" y="223837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Business context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787BF9-68DE-4051-8F18-58B3BC466DB8}"/>
              </a:ext>
            </a:extLst>
          </p:cNvPr>
          <p:cNvSpPr>
            <a:spLocks noGrp="1"/>
          </p:cNvSpPr>
          <p:nvPr/>
        </p:nvSpPr>
        <p:spPr>
          <a:xfrm>
            <a:off x="5286375" y="22479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Live constituency updates under a two-minute SLA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3CF7E96-0B67-4FA0-A163-38440877D6BA}"/>
              </a:ext>
            </a:extLst>
          </p:cNvPr>
          <p:cNvSpPr>
            <a:spLocks noGrp="1"/>
          </p:cNvSpPr>
          <p:nvPr/>
        </p:nvSpPr>
        <p:spPr>
          <a:xfrm>
            <a:off x="5762625" y="2647950"/>
            <a:ext cx="0" cy="17145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2D1BE5E-2605-4E0F-B38E-A94602311964}"/>
              </a:ext>
            </a:extLst>
          </p:cNvPr>
          <p:cNvSpPr>
            <a:spLocks noGrp="1"/>
          </p:cNvSpPr>
          <p:nvPr/>
        </p:nvSpPr>
        <p:spPr>
          <a:xfrm>
            <a:off x="5725338" y="274220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233079A-09A0-4048-AFAB-DCC0754671E4}"/>
              </a:ext>
            </a:extLst>
          </p:cNvPr>
          <p:cNvSpPr>
            <a:spLocks noGrp="1"/>
          </p:cNvSpPr>
          <p:nvPr/>
        </p:nvSpPr>
        <p:spPr>
          <a:xfrm>
            <a:off x="5762625" y="274220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E5CF3C-759D-4395-9050-89AEFE712D4E}"/>
              </a:ext>
            </a:extLst>
          </p:cNvPr>
          <p:cNvSpPr>
            <a:spLocks noGrp="1"/>
          </p:cNvSpPr>
          <p:nvPr/>
        </p:nvSpPr>
        <p:spPr>
          <a:xfrm>
            <a:off x="1714500" y="2905125"/>
            <a:ext cx="8096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8AE907-485F-4AF8-9DCB-CCB77252F76C}"/>
              </a:ext>
            </a:extLst>
          </p:cNvPr>
          <p:cNvSpPr>
            <a:spLocks noGrp="1"/>
          </p:cNvSpPr>
          <p:nvPr/>
        </p:nvSpPr>
        <p:spPr>
          <a:xfrm>
            <a:off x="1943100" y="307657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E7FA8"/>
                </a:solidFill>
              </a:defRPr>
            </a:pPr>
            <a:r>
              <a:rPr sz="975" b="1">
                <a:solidFill>
                  <a:srgbClr val="4E7FA8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6FFBD8-5CA2-4643-A994-7B084BAB71EC}"/>
              </a:ext>
            </a:extLst>
          </p:cNvPr>
          <p:cNvSpPr>
            <a:spLocks noGrp="1"/>
          </p:cNvSpPr>
          <p:nvPr/>
        </p:nvSpPr>
        <p:spPr>
          <a:xfrm>
            <a:off x="2571750" y="3048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Operational challenge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D35968-35BA-4622-A605-DCCE2C4D32E9}"/>
              </a:ext>
            </a:extLst>
          </p:cNvPr>
          <p:cNvSpPr>
            <a:spLocks noGrp="1"/>
          </p:cNvSpPr>
          <p:nvPr/>
        </p:nvSpPr>
        <p:spPr>
          <a:xfrm>
            <a:off x="5286375" y="3057525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Manual monitoring of rounds, delays and exceptions across constituencies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0C2FB85-713B-4EB9-8D86-D3CB6979D8A1}"/>
              </a:ext>
            </a:extLst>
          </p:cNvPr>
          <p:cNvSpPr>
            <a:spLocks noGrp="1"/>
          </p:cNvSpPr>
          <p:nvPr/>
        </p:nvSpPr>
        <p:spPr>
          <a:xfrm>
            <a:off x="5762625" y="3457575"/>
            <a:ext cx="0" cy="17145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DAF3F0FF-0E78-4752-9F7D-7A63ED6CABAE}"/>
              </a:ext>
            </a:extLst>
          </p:cNvPr>
          <p:cNvSpPr>
            <a:spLocks noGrp="1"/>
          </p:cNvSpPr>
          <p:nvPr/>
        </p:nvSpPr>
        <p:spPr>
          <a:xfrm>
            <a:off x="5725338" y="3551834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0A15148-4CBB-4167-ADD1-9190F44C2305}"/>
              </a:ext>
            </a:extLst>
          </p:cNvPr>
          <p:cNvSpPr>
            <a:spLocks noGrp="1"/>
          </p:cNvSpPr>
          <p:nvPr/>
        </p:nvSpPr>
        <p:spPr>
          <a:xfrm>
            <a:off x="5762625" y="3551834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CAB0E3-1D16-48F6-9462-3EFE1206804D}"/>
              </a:ext>
            </a:extLst>
          </p:cNvPr>
          <p:cNvSpPr>
            <a:spLocks noGrp="1"/>
          </p:cNvSpPr>
          <p:nvPr/>
        </p:nvSpPr>
        <p:spPr>
          <a:xfrm>
            <a:off x="1714500" y="3714750"/>
            <a:ext cx="8096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9590AB-05B8-467C-A331-439798EF3376}"/>
              </a:ext>
            </a:extLst>
          </p:cNvPr>
          <p:cNvSpPr>
            <a:spLocks noGrp="1"/>
          </p:cNvSpPr>
          <p:nvPr/>
        </p:nvSpPr>
        <p:spPr>
          <a:xfrm>
            <a:off x="1943100" y="38862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4E7FA8"/>
                </a:solidFill>
              </a:defRPr>
            </a:pPr>
            <a:r>
              <a:rPr sz="975" b="1">
                <a:solidFill>
                  <a:srgbClr val="4E7FA8"/>
                </a:solidFill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8A467C-EA23-4101-9763-D2E7CED69545}"/>
              </a:ext>
            </a:extLst>
          </p:cNvPr>
          <p:cNvSpPr>
            <a:spLocks noGrp="1"/>
          </p:cNvSpPr>
          <p:nvPr/>
        </p:nvSpPr>
        <p:spPr>
          <a:xfrm>
            <a:off x="2571750" y="3857625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Analytical diagnosis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802F05-A400-4D51-A7F4-3742E5CC108A}"/>
              </a:ext>
            </a:extLst>
          </p:cNvPr>
          <p:cNvSpPr>
            <a:spLocks noGrp="1"/>
          </p:cNvSpPr>
          <p:nvPr/>
        </p:nvSpPr>
        <p:spPr>
          <a:xfrm>
            <a:off x="5286375" y="386715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Process mapping and gap analysis identified visibility and intervention delays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E26F23E1-57FE-449C-9DD5-C3FD6881074F}"/>
              </a:ext>
            </a:extLst>
          </p:cNvPr>
          <p:cNvSpPr>
            <a:spLocks noGrp="1"/>
          </p:cNvSpPr>
          <p:nvPr/>
        </p:nvSpPr>
        <p:spPr>
          <a:xfrm>
            <a:off x="5762625" y="4267200"/>
            <a:ext cx="0" cy="17145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3A12E3AE-0FF3-47A7-8DC3-ECA52541C27A}"/>
              </a:ext>
            </a:extLst>
          </p:cNvPr>
          <p:cNvSpPr>
            <a:spLocks noGrp="1"/>
          </p:cNvSpPr>
          <p:nvPr/>
        </p:nvSpPr>
        <p:spPr>
          <a:xfrm>
            <a:off x="5725338" y="436145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9E44DD1F-25C5-47B6-96CF-C1020903D689}"/>
              </a:ext>
            </a:extLst>
          </p:cNvPr>
          <p:cNvSpPr>
            <a:spLocks noGrp="1"/>
          </p:cNvSpPr>
          <p:nvPr/>
        </p:nvSpPr>
        <p:spPr>
          <a:xfrm>
            <a:off x="5762625" y="436145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CFBC5A-FE64-4576-8F26-FC8B95AB926D}"/>
              </a:ext>
            </a:extLst>
          </p:cNvPr>
          <p:cNvSpPr>
            <a:spLocks noGrp="1"/>
          </p:cNvSpPr>
          <p:nvPr/>
        </p:nvSpPr>
        <p:spPr>
          <a:xfrm>
            <a:off x="1714500" y="4524375"/>
            <a:ext cx="8096250" cy="552450"/>
          </a:xfrm>
          <a:prstGeom prst="rect">
            <a:avLst/>
          </a:prstGeom>
          <a:solidFill>
            <a:srgbClr val="102A43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9E19DB-D51E-4F31-BE0C-1681DACDC7B9}"/>
              </a:ext>
            </a:extLst>
          </p:cNvPr>
          <p:cNvSpPr>
            <a:spLocks noGrp="1"/>
          </p:cNvSpPr>
          <p:nvPr/>
        </p:nvSpPr>
        <p:spPr>
          <a:xfrm>
            <a:off x="1943100" y="4695825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62E6EE-5F99-4F23-8FD2-E67B9FF11ACC}"/>
              </a:ext>
            </a:extLst>
          </p:cNvPr>
          <p:cNvSpPr>
            <a:spLocks noGrp="1"/>
          </p:cNvSpPr>
          <p:nvPr/>
        </p:nvSpPr>
        <p:spPr>
          <a:xfrm>
            <a:off x="2571750" y="4667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Technology-enabled solution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230093-5370-44E3-B82A-69FDC6CB4BAF}"/>
              </a:ext>
            </a:extLst>
          </p:cNvPr>
          <p:cNvSpPr>
            <a:spLocks noGrp="1"/>
          </p:cNvSpPr>
          <p:nvPr/>
        </p:nvSpPr>
        <p:spPr>
          <a:xfrm>
            <a:off x="5286375" y="4676775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DCE8F1"/>
                </a:solidFill>
              </a:defRPr>
            </a:pPr>
            <a:r>
              <a:rPr sz="1050" b="0">
                <a:solidFill>
                  <a:srgbClr val="DCE8F1"/>
                </a:solidFill>
              </a:rPr>
              <a:t>Rule-based monitoring framework with centralized data, detection, alerts and dashboard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F26D70-008F-4FAF-B2CF-3F782BDAE462}"/>
              </a:ext>
            </a:extLst>
          </p:cNvPr>
          <p:cNvSpPr>
            <a:spLocks noGrp="1"/>
          </p:cNvSpPr>
          <p:nvPr/>
        </p:nvSpPr>
        <p:spPr>
          <a:xfrm>
            <a:off x="1714500" y="5562600"/>
            <a:ext cx="809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Focus: real-time monitoring, exception detection, centralized visibility and decision support - not election prediction.</a:t>
            </a:r>
          </a:p>
        </p:txBody>
      </p:sp>
    </p:spTree>
    <p:extLst>
      <p:ext uri="{BB962C8B-B14F-4D97-AF65-F5344CB8AC3E}">
        <p14:creationId xmlns:p14="http://schemas.microsoft.com/office/powerpoint/2010/main" val="25197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30F621D2-3F7B-4A7C-8116-CA58F0C38A09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3D3DE-FBD3-4111-A093-6EDFBAB762C1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PROBLEM 1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5189FA3-1BA0-47D5-A3F5-7F0CFF88FD92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0D658C-0BE9-4F01-970A-7A16E4E1AD67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B42791-943D-454F-8AFC-1BB64D255D0D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Manual monitoring increased the effort required to identify operational exceptions.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CDE01-7E92-47DC-BD17-B6FCC1F9F691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Team Leaders had to continuously review multiple constituency records, reporting progress and synchronization status.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F7789CE-4C7D-4FFF-A583-74CD6BE23F54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DA2DD-3D68-43C3-8590-575E35424182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C7720A-F187-4E6E-B409-EC620E3D8690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ECI update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2A39E77-E934-4277-9856-2EB7A66B198F}"/>
              </a:ext>
            </a:extLst>
          </p:cNvPr>
          <p:cNvSpPr>
            <a:spLocks noGrp="1"/>
          </p:cNvSpPr>
          <p:nvPr/>
        </p:nvSpPr>
        <p:spPr>
          <a:xfrm>
            <a:off x="2400300" y="2790825"/>
            <a:ext cx="3048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F6255A4-0867-4E66-BC77-EAEC501C4DC5}"/>
              </a:ext>
            </a:extLst>
          </p:cNvPr>
          <p:cNvSpPr>
            <a:spLocks noGrp="1"/>
          </p:cNvSpPr>
          <p:nvPr/>
        </p:nvSpPr>
        <p:spPr>
          <a:xfrm>
            <a:off x="2627909" y="27908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01ED6B1-044E-48E6-9B3E-A680A9135BFE}"/>
              </a:ext>
            </a:extLst>
          </p:cNvPr>
          <p:cNvSpPr>
            <a:spLocks noGrp="1"/>
          </p:cNvSpPr>
          <p:nvPr/>
        </p:nvSpPr>
        <p:spPr>
          <a:xfrm>
            <a:off x="2627909" y="27535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3AAFB3-B191-4013-89BC-8CEF4261BFA8}"/>
              </a:ext>
            </a:extLst>
          </p:cNvPr>
          <p:cNvSpPr>
            <a:spLocks noGrp="1"/>
          </p:cNvSpPr>
          <p:nvPr/>
        </p:nvSpPr>
        <p:spPr>
          <a:xfrm>
            <a:off x="2828925" y="2428875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C18446-FC71-4CA7-85BA-0D9F7CE851BE}"/>
              </a:ext>
            </a:extLst>
          </p:cNvPr>
          <p:cNvSpPr>
            <a:spLocks noGrp="1"/>
          </p:cNvSpPr>
          <p:nvPr/>
        </p:nvSpPr>
        <p:spPr>
          <a:xfrm>
            <a:off x="2962275" y="2647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Multiple records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CB7CA34-D39A-424C-998F-D18F20FA6880}"/>
              </a:ext>
            </a:extLst>
          </p:cNvPr>
          <p:cNvSpPr>
            <a:spLocks noGrp="1"/>
          </p:cNvSpPr>
          <p:nvPr/>
        </p:nvSpPr>
        <p:spPr>
          <a:xfrm>
            <a:off x="4543425" y="2790825"/>
            <a:ext cx="3048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EF9ED09-2E13-4C50-846E-1A271CE76683}"/>
              </a:ext>
            </a:extLst>
          </p:cNvPr>
          <p:cNvSpPr>
            <a:spLocks noGrp="1"/>
          </p:cNvSpPr>
          <p:nvPr/>
        </p:nvSpPr>
        <p:spPr>
          <a:xfrm>
            <a:off x="4771034" y="27908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CF59CC7-B49D-4F02-8732-D4F09645D39F}"/>
              </a:ext>
            </a:extLst>
          </p:cNvPr>
          <p:cNvSpPr>
            <a:spLocks noGrp="1"/>
          </p:cNvSpPr>
          <p:nvPr/>
        </p:nvSpPr>
        <p:spPr>
          <a:xfrm>
            <a:off x="4771034" y="27535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D145A-1F44-47C8-81AB-3F2E3EAF83AF}"/>
              </a:ext>
            </a:extLst>
          </p:cNvPr>
          <p:cNvSpPr>
            <a:spLocks noGrp="1"/>
          </p:cNvSpPr>
          <p:nvPr/>
        </p:nvSpPr>
        <p:spPr>
          <a:xfrm>
            <a:off x="4972050" y="2428875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372342-A551-469C-AD63-4FD04A47BE91}"/>
              </a:ext>
            </a:extLst>
          </p:cNvPr>
          <p:cNvSpPr>
            <a:spLocks noGrp="1"/>
          </p:cNvSpPr>
          <p:nvPr/>
        </p:nvSpPr>
        <p:spPr>
          <a:xfrm>
            <a:off x="5105400" y="2647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Manual checking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ACCCDB54-A255-41D6-9EB6-E1899781A588}"/>
              </a:ext>
            </a:extLst>
          </p:cNvPr>
          <p:cNvSpPr>
            <a:spLocks noGrp="1"/>
          </p:cNvSpPr>
          <p:nvPr/>
        </p:nvSpPr>
        <p:spPr>
          <a:xfrm>
            <a:off x="6686550" y="2790825"/>
            <a:ext cx="3048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2A7FBE9-0BFB-41A5-A748-F74D9C274599}"/>
              </a:ext>
            </a:extLst>
          </p:cNvPr>
          <p:cNvSpPr>
            <a:spLocks noGrp="1"/>
          </p:cNvSpPr>
          <p:nvPr/>
        </p:nvSpPr>
        <p:spPr>
          <a:xfrm>
            <a:off x="6914159" y="27908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B82B606-4A44-4B4D-B9F5-69A5E5D767B9}"/>
              </a:ext>
            </a:extLst>
          </p:cNvPr>
          <p:cNvSpPr>
            <a:spLocks noGrp="1"/>
          </p:cNvSpPr>
          <p:nvPr/>
        </p:nvSpPr>
        <p:spPr>
          <a:xfrm>
            <a:off x="6914159" y="27535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016FF1-2000-49E6-A2FF-817D8E8ED6D8}"/>
              </a:ext>
            </a:extLst>
          </p:cNvPr>
          <p:cNvSpPr>
            <a:spLocks noGrp="1"/>
          </p:cNvSpPr>
          <p:nvPr/>
        </p:nvSpPr>
        <p:spPr>
          <a:xfrm>
            <a:off x="7115175" y="2428875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16FBFF-9C58-4A50-94EA-0BC6EAC49B83}"/>
              </a:ext>
            </a:extLst>
          </p:cNvPr>
          <p:cNvSpPr>
            <a:spLocks noGrp="1"/>
          </p:cNvSpPr>
          <p:nvPr/>
        </p:nvSpPr>
        <p:spPr>
          <a:xfrm>
            <a:off x="7248525" y="2647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TL validation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857886A2-2F56-498B-9210-D2CC0D889FF2}"/>
              </a:ext>
            </a:extLst>
          </p:cNvPr>
          <p:cNvSpPr>
            <a:spLocks noGrp="1"/>
          </p:cNvSpPr>
          <p:nvPr/>
        </p:nvSpPr>
        <p:spPr>
          <a:xfrm>
            <a:off x="8829675" y="2790825"/>
            <a:ext cx="3048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033A4D89-5623-4019-AE7B-6EE0EF8FE5ED}"/>
              </a:ext>
            </a:extLst>
          </p:cNvPr>
          <p:cNvSpPr>
            <a:spLocks noGrp="1"/>
          </p:cNvSpPr>
          <p:nvPr/>
        </p:nvSpPr>
        <p:spPr>
          <a:xfrm>
            <a:off x="9057284" y="279082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32CA37BF-9E7A-47F7-A1E5-86B7115E3E0D}"/>
              </a:ext>
            </a:extLst>
          </p:cNvPr>
          <p:cNvSpPr>
            <a:spLocks noGrp="1"/>
          </p:cNvSpPr>
          <p:nvPr/>
        </p:nvSpPr>
        <p:spPr>
          <a:xfrm>
            <a:off x="9057284" y="275353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3FCDBC-AB6D-4188-8E8D-81EF80DD9EDD}"/>
              </a:ext>
            </a:extLst>
          </p:cNvPr>
          <p:cNvSpPr>
            <a:spLocks noGrp="1"/>
          </p:cNvSpPr>
          <p:nvPr/>
        </p:nvSpPr>
        <p:spPr>
          <a:xfrm>
            <a:off x="9258300" y="2428875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FF7257-C48B-4154-8398-DB226E8F21A5}"/>
              </a:ext>
            </a:extLst>
          </p:cNvPr>
          <p:cNvSpPr>
            <a:spLocks noGrp="1"/>
          </p:cNvSpPr>
          <p:nvPr/>
        </p:nvSpPr>
        <p:spPr>
          <a:xfrm>
            <a:off x="9391650" y="264795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Exception identification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902AB9-04AD-405C-8905-D5529FD48A5E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0820400" cy="1095375"/>
          </a:xfrm>
          <a:prstGeom prst="rect">
            <a:avLst/>
          </a:prstGeom>
          <a:solidFill>
            <a:srgbClr val="EAF1F6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61546D-B8AA-47B1-B9FF-5AB9237454A0}"/>
              </a:ext>
            </a:extLst>
          </p:cNvPr>
          <p:cNvSpPr>
            <a:spLocks noGrp="1"/>
          </p:cNvSpPr>
          <p:nvPr/>
        </p:nvSpPr>
        <p:spPr>
          <a:xfrm>
            <a:off x="933450" y="4086225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E7FA8"/>
                </a:solidFill>
              </a:defRPr>
            </a:pPr>
            <a:r>
              <a:rPr sz="1200" b="1">
                <a:solidFill>
                  <a:srgbClr val="4E7FA8"/>
                </a:solidFill>
              </a:rPr>
              <a:t>Why it happened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960C08-6585-42B6-BC0E-CCA12793B238}"/>
              </a:ext>
            </a:extLst>
          </p:cNvPr>
          <p:cNvSpPr>
            <a:spLocks noGrp="1"/>
          </p:cNvSpPr>
          <p:nvPr/>
        </p:nvSpPr>
        <p:spPr>
          <a:xfrm>
            <a:off x="933450" y="4391025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02B38"/>
                </a:solidFill>
              </a:defRPr>
            </a:pPr>
            <a:r>
              <a:rPr sz="1350" b="0">
                <a:solidFill>
                  <a:srgbClr val="202B38"/>
                </a:solidFill>
              </a:rPr>
              <a:t>Monitoring responsibilities were distributed across individual constituency records during a dynamic, high-volume counting process.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51C456-1445-443C-8014-5E08A48008E9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54745"/>
                </a:solidFill>
              </a:defRPr>
            </a:pPr>
            <a:r>
              <a:rPr sz="1200" b="1">
                <a:solidFill>
                  <a:srgbClr val="B54745"/>
                </a:solidFill>
              </a:rPr>
              <a:t>Business consequence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F770C4-64A3-41A2-97B5-095CBD8DBA24}"/>
              </a:ext>
            </a:extLst>
          </p:cNvPr>
          <p:cNvSpPr>
            <a:spLocks noGrp="1"/>
          </p:cNvSpPr>
          <p:nvPr/>
        </p:nvSpPr>
        <p:spPr>
          <a:xfrm>
            <a:off x="933450" y="552450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02B38"/>
                </a:solidFill>
              </a:defRPr>
            </a:pPr>
            <a:r>
              <a:rPr sz="1350" b="0">
                <a:solidFill>
                  <a:srgbClr val="202B38"/>
                </a:solidFill>
              </a:rPr>
              <a:t>More repetitive checking, higher monitoring load and less capacity to respond proactively as operational volume increased.</a:t>
            </a:r>
          </a:p>
        </p:txBody>
      </p:sp>
    </p:spTree>
    <p:extLst>
      <p:ext uri="{BB962C8B-B14F-4D97-AF65-F5344CB8AC3E}">
        <p14:creationId xmlns:p14="http://schemas.microsoft.com/office/powerpoint/2010/main" val="461849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E41BF62F-B2E5-46EF-882A-34C1B84D90A7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036B83-1FD0-421B-9622-8ACC8E45F6BA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PROBLEM 2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C0383C-8ACF-49DD-B2C8-43E443BC3EF0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0E74EF-BF28-420D-8015-165AB2A95972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C2F632-CF4C-43CD-A282-C456AF2BFCE3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Missing rounds were a critical completeness risk that was difficult to spot manually.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4F2B64-025E-4104-98E3-5C84871BE0FC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Sequential counting rounds could be skipped because of reporting delays or synchronization inconsistencies.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EE368456-2C22-4BD7-B990-BFE8759EBD5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30BFA9-E86C-491E-88F6-6D30040DBCAD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12954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367A5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AA887-1923-4D79-A8C7-E0D295675209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ROUND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1181F-7A65-4594-9669-C745EF57BF1E}"/>
              </a:ext>
            </a:extLst>
          </p:cNvPr>
          <p:cNvSpPr>
            <a:spLocks noGrp="1"/>
          </p:cNvSpPr>
          <p:nvPr/>
        </p:nvSpPr>
        <p:spPr>
          <a:xfrm>
            <a:off x="971550" y="30099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67A5A"/>
                </a:solidFill>
              </a:defRPr>
            </a:pPr>
            <a:r>
              <a:rPr sz="1200" b="1">
                <a:solidFill>
                  <a:srgbClr val="367A5A"/>
                </a:solidFill>
              </a:rPr>
              <a:t>Received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5263745-5707-419A-AA0B-8EA3D638103E}"/>
              </a:ext>
            </a:extLst>
          </p:cNvPr>
          <p:cNvSpPr>
            <a:spLocks noGrp="1"/>
          </p:cNvSpPr>
          <p:nvPr/>
        </p:nvSpPr>
        <p:spPr>
          <a:xfrm>
            <a:off x="2171700" y="2981325"/>
            <a:ext cx="257175" cy="0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91F6D0A-1B28-4600-ABD8-E81920F15F44}"/>
              </a:ext>
            </a:extLst>
          </p:cNvPr>
          <p:cNvSpPr>
            <a:spLocks noGrp="1"/>
          </p:cNvSpPr>
          <p:nvPr/>
        </p:nvSpPr>
        <p:spPr>
          <a:xfrm>
            <a:off x="2351684" y="2981325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B419C5C-7B0E-4D0A-B427-A101544B19DF}"/>
              </a:ext>
            </a:extLst>
          </p:cNvPr>
          <p:cNvSpPr>
            <a:spLocks noGrp="1"/>
          </p:cNvSpPr>
          <p:nvPr/>
        </p:nvSpPr>
        <p:spPr>
          <a:xfrm>
            <a:off x="2351684" y="2944038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08A16-AB32-4C64-8122-84CA2B9979AF}"/>
              </a:ext>
            </a:extLst>
          </p:cNvPr>
          <p:cNvSpPr>
            <a:spLocks noGrp="1"/>
          </p:cNvSpPr>
          <p:nvPr/>
        </p:nvSpPr>
        <p:spPr>
          <a:xfrm>
            <a:off x="2571750" y="2476500"/>
            <a:ext cx="12954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367A5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DFB6DE-F473-4BFE-873B-636ECA7FE52E}"/>
              </a:ext>
            </a:extLst>
          </p:cNvPr>
          <p:cNvSpPr>
            <a:spLocks noGrp="1"/>
          </p:cNvSpPr>
          <p:nvPr/>
        </p:nvSpPr>
        <p:spPr>
          <a:xfrm>
            <a:off x="2686050" y="26670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ROUND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5D455-37E7-4CB5-8DD2-115821C35B90}"/>
              </a:ext>
            </a:extLst>
          </p:cNvPr>
          <p:cNvSpPr>
            <a:spLocks noGrp="1"/>
          </p:cNvSpPr>
          <p:nvPr/>
        </p:nvSpPr>
        <p:spPr>
          <a:xfrm>
            <a:off x="2667000" y="30099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67A5A"/>
                </a:solidFill>
              </a:defRPr>
            </a:pPr>
            <a:r>
              <a:rPr sz="1200" b="1">
                <a:solidFill>
                  <a:srgbClr val="367A5A"/>
                </a:solidFill>
              </a:rPr>
              <a:t>Received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005E039-81AC-4E6F-9646-0D1DA7043E37}"/>
              </a:ext>
            </a:extLst>
          </p:cNvPr>
          <p:cNvSpPr>
            <a:spLocks noGrp="1"/>
          </p:cNvSpPr>
          <p:nvPr/>
        </p:nvSpPr>
        <p:spPr>
          <a:xfrm>
            <a:off x="3867150" y="2981325"/>
            <a:ext cx="257175" cy="0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DE00308-0777-4B1D-B98C-2568D73536D8}"/>
              </a:ext>
            </a:extLst>
          </p:cNvPr>
          <p:cNvSpPr>
            <a:spLocks noGrp="1"/>
          </p:cNvSpPr>
          <p:nvPr/>
        </p:nvSpPr>
        <p:spPr>
          <a:xfrm>
            <a:off x="4047134" y="2981325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FB6C00A-8347-4159-9CE1-28E8EFC10009}"/>
              </a:ext>
            </a:extLst>
          </p:cNvPr>
          <p:cNvSpPr>
            <a:spLocks noGrp="1"/>
          </p:cNvSpPr>
          <p:nvPr/>
        </p:nvSpPr>
        <p:spPr>
          <a:xfrm>
            <a:off x="4047134" y="2944038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74D5C2-D5E2-4DA9-B219-DAFFFCC13E41}"/>
              </a:ext>
            </a:extLst>
          </p:cNvPr>
          <p:cNvSpPr>
            <a:spLocks noGrp="1"/>
          </p:cNvSpPr>
          <p:nvPr/>
        </p:nvSpPr>
        <p:spPr>
          <a:xfrm>
            <a:off x="4267200" y="2476500"/>
            <a:ext cx="12954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367A5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13FC65-9E94-428A-9452-94203D9675B0}"/>
              </a:ext>
            </a:extLst>
          </p:cNvPr>
          <p:cNvSpPr>
            <a:spLocks noGrp="1"/>
          </p:cNvSpPr>
          <p:nvPr/>
        </p:nvSpPr>
        <p:spPr>
          <a:xfrm>
            <a:off x="4381500" y="26670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ROUND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FE23A5-9B1B-4F92-B4AD-33C5BEC9ADCE}"/>
              </a:ext>
            </a:extLst>
          </p:cNvPr>
          <p:cNvSpPr>
            <a:spLocks noGrp="1"/>
          </p:cNvSpPr>
          <p:nvPr/>
        </p:nvSpPr>
        <p:spPr>
          <a:xfrm>
            <a:off x="4362450" y="30099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67A5A"/>
                </a:solidFill>
              </a:defRPr>
            </a:pPr>
            <a:r>
              <a:rPr sz="1200" b="1">
                <a:solidFill>
                  <a:srgbClr val="367A5A"/>
                </a:solidFill>
              </a:rPr>
              <a:t>Received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5E6EFD7-1C79-4BDE-ADC7-0B089E8E5860}"/>
              </a:ext>
            </a:extLst>
          </p:cNvPr>
          <p:cNvSpPr>
            <a:spLocks noGrp="1"/>
          </p:cNvSpPr>
          <p:nvPr/>
        </p:nvSpPr>
        <p:spPr>
          <a:xfrm>
            <a:off x="5562600" y="2981325"/>
            <a:ext cx="257175" cy="0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A21442D-A539-455F-A17C-A9E0DC759B7F}"/>
              </a:ext>
            </a:extLst>
          </p:cNvPr>
          <p:cNvSpPr>
            <a:spLocks noGrp="1"/>
          </p:cNvSpPr>
          <p:nvPr/>
        </p:nvSpPr>
        <p:spPr>
          <a:xfrm>
            <a:off x="5742584" y="2981325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D5C8481A-5922-4D62-8959-5B0E6F9CAF27}"/>
              </a:ext>
            </a:extLst>
          </p:cNvPr>
          <p:cNvSpPr>
            <a:spLocks noGrp="1"/>
          </p:cNvSpPr>
          <p:nvPr/>
        </p:nvSpPr>
        <p:spPr>
          <a:xfrm>
            <a:off x="5742584" y="2944038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CCBAB3-9C47-430A-B465-78765E643D5D}"/>
              </a:ext>
            </a:extLst>
          </p:cNvPr>
          <p:cNvSpPr>
            <a:spLocks noGrp="1"/>
          </p:cNvSpPr>
          <p:nvPr/>
        </p:nvSpPr>
        <p:spPr>
          <a:xfrm>
            <a:off x="5962650" y="2476500"/>
            <a:ext cx="1295400" cy="1000125"/>
          </a:xfrm>
          <a:prstGeom prst="rect">
            <a:avLst/>
          </a:prstGeom>
          <a:solidFill>
            <a:srgbClr val="FBE9E8"/>
          </a:solidFill>
          <a:ln w="9525">
            <a:solidFill>
              <a:srgbClr val="B5474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E2346D-227C-4D8E-A482-FF38C170D97C}"/>
              </a:ext>
            </a:extLst>
          </p:cNvPr>
          <p:cNvSpPr>
            <a:spLocks noGrp="1"/>
          </p:cNvSpPr>
          <p:nvPr/>
        </p:nvSpPr>
        <p:spPr>
          <a:xfrm>
            <a:off x="6076950" y="26670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ROUND 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365CE3-8509-4077-8292-9CE56852434B}"/>
              </a:ext>
            </a:extLst>
          </p:cNvPr>
          <p:cNvSpPr>
            <a:spLocks noGrp="1"/>
          </p:cNvSpPr>
          <p:nvPr/>
        </p:nvSpPr>
        <p:spPr>
          <a:xfrm>
            <a:off x="6057900" y="30099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B54745"/>
                </a:solidFill>
              </a:defRPr>
            </a:pPr>
            <a:r>
              <a:rPr sz="1200" b="1">
                <a:solidFill>
                  <a:srgbClr val="B54745"/>
                </a:solidFill>
              </a:rPr>
              <a:t>Missing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ECE80C39-8401-40F7-9E6A-49580B48D621}"/>
              </a:ext>
            </a:extLst>
          </p:cNvPr>
          <p:cNvSpPr>
            <a:spLocks noGrp="1"/>
          </p:cNvSpPr>
          <p:nvPr/>
        </p:nvSpPr>
        <p:spPr>
          <a:xfrm>
            <a:off x="7258050" y="2981325"/>
            <a:ext cx="257175" cy="0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244A4D73-7C44-4124-9E0B-B1360C81E754}"/>
              </a:ext>
            </a:extLst>
          </p:cNvPr>
          <p:cNvSpPr>
            <a:spLocks noGrp="1"/>
          </p:cNvSpPr>
          <p:nvPr/>
        </p:nvSpPr>
        <p:spPr>
          <a:xfrm>
            <a:off x="7438034" y="2981325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876A66FE-0938-4044-84A8-AE24B8BFF595}"/>
              </a:ext>
            </a:extLst>
          </p:cNvPr>
          <p:cNvSpPr>
            <a:spLocks noGrp="1"/>
          </p:cNvSpPr>
          <p:nvPr/>
        </p:nvSpPr>
        <p:spPr>
          <a:xfrm>
            <a:off x="7438034" y="2944038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36ACDD-08F6-4D6C-8694-D1FB3B11C03F}"/>
              </a:ext>
            </a:extLst>
          </p:cNvPr>
          <p:cNvSpPr>
            <a:spLocks noGrp="1"/>
          </p:cNvSpPr>
          <p:nvPr/>
        </p:nvSpPr>
        <p:spPr>
          <a:xfrm>
            <a:off x="7658100" y="2476500"/>
            <a:ext cx="12954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367A5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232987-9527-4444-BA60-CA8983406B22}"/>
              </a:ext>
            </a:extLst>
          </p:cNvPr>
          <p:cNvSpPr>
            <a:spLocks noGrp="1"/>
          </p:cNvSpPr>
          <p:nvPr/>
        </p:nvSpPr>
        <p:spPr>
          <a:xfrm>
            <a:off x="7772400" y="26670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ROUND 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747B31-B3AF-48F5-BCF6-CA7ABFBDE7EB}"/>
              </a:ext>
            </a:extLst>
          </p:cNvPr>
          <p:cNvSpPr>
            <a:spLocks noGrp="1"/>
          </p:cNvSpPr>
          <p:nvPr/>
        </p:nvSpPr>
        <p:spPr>
          <a:xfrm>
            <a:off x="7753350" y="30099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67A5A"/>
                </a:solidFill>
              </a:defRPr>
            </a:pPr>
            <a:r>
              <a:rPr sz="1200" b="1">
                <a:solidFill>
                  <a:srgbClr val="367A5A"/>
                </a:solidFill>
              </a:rPr>
              <a:t>Received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6AB27BAB-15D0-4328-8DE2-37481ED323C2}"/>
              </a:ext>
            </a:extLst>
          </p:cNvPr>
          <p:cNvSpPr>
            <a:spLocks noGrp="1"/>
          </p:cNvSpPr>
          <p:nvPr/>
        </p:nvSpPr>
        <p:spPr>
          <a:xfrm>
            <a:off x="8953500" y="2981325"/>
            <a:ext cx="257175" cy="0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1192FAD0-CF0B-4F37-A480-5D9F97BABEA2}"/>
              </a:ext>
            </a:extLst>
          </p:cNvPr>
          <p:cNvSpPr>
            <a:spLocks noGrp="1"/>
          </p:cNvSpPr>
          <p:nvPr/>
        </p:nvSpPr>
        <p:spPr>
          <a:xfrm>
            <a:off x="9133484" y="2981325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85A0DB45-2E05-42E3-BC60-9CDB30BFF154}"/>
              </a:ext>
            </a:extLst>
          </p:cNvPr>
          <p:cNvSpPr>
            <a:spLocks noGrp="1"/>
          </p:cNvSpPr>
          <p:nvPr/>
        </p:nvSpPr>
        <p:spPr>
          <a:xfrm>
            <a:off x="9133484" y="2944038"/>
            <a:ext cx="77191" cy="37287"/>
          </a:xfrm>
          <a:prstGeom prst="line">
            <a:avLst/>
          </a:prstGeom>
          <a:ln w="19050">
            <a:solidFill>
              <a:srgbClr val="5D6B78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B3E787-F9D4-4870-A3D3-401CE92E4F5C}"/>
              </a:ext>
            </a:extLst>
          </p:cNvPr>
          <p:cNvSpPr>
            <a:spLocks noGrp="1"/>
          </p:cNvSpPr>
          <p:nvPr/>
        </p:nvSpPr>
        <p:spPr>
          <a:xfrm>
            <a:off x="9353550" y="2476500"/>
            <a:ext cx="12954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367A5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558CFB-8C5A-4BD8-8D05-452815173BF8}"/>
              </a:ext>
            </a:extLst>
          </p:cNvPr>
          <p:cNvSpPr>
            <a:spLocks noGrp="1"/>
          </p:cNvSpPr>
          <p:nvPr/>
        </p:nvSpPr>
        <p:spPr>
          <a:xfrm>
            <a:off x="9467850" y="2667000"/>
            <a:ext cx="106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ROUND 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FCE58F-209F-40C1-8AC6-C6C91C5E255F}"/>
              </a:ext>
            </a:extLst>
          </p:cNvPr>
          <p:cNvSpPr>
            <a:spLocks noGrp="1"/>
          </p:cNvSpPr>
          <p:nvPr/>
        </p:nvSpPr>
        <p:spPr>
          <a:xfrm>
            <a:off x="9448800" y="3009900"/>
            <a:ext cx="1104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67A5A"/>
                </a:solidFill>
              </a:defRPr>
            </a:pPr>
            <a:r>
              <a:rPr sz="1200" b="1">
                <a:solidFill>
                  <a:srgbClr val="367A5A"/>
                </a:solidFill>
              </a:rPr>
              <a:t>Received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D386B3-FDE8-49D7-A2D4-D21CF09CB57C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0006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90AF07-8C3C-4D5F-9B25-1B58E6A9944D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Why it happened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34BB96-F6A9-4958-B7AE-423DDDC10CE5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Team Leaders had to compare sequences manually across numerous constituencies.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99F56F5-2466-40A9-B25E-0A9E507E1B5E}"/>
              </a:ext>
            </a:extLst>
          </p:cNvPr>
          <p:cNvSpPr>
            <a:spLocks noGrp="1"/>
          </p:cNvSpPr>
          <p:nvPr/>
        </p:nvSpPr>
        <p:spPr>
          <a:xfrm>
            <a:off x="6096000" y="4171950"/>
            <a:ext cx="54102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AEE2E10-E6A9-4EC7-82DC-25ADF6059C6D}"/>
              </a:ext>
            </a:extLst>
          </p:cNvPr>
          <p:cNvSpPr>
            <a:spLocks noGrp="1"/>
          </p:cNvSpPr>
          <p:nvPr/>
        </p:nvSpPr>
        <p:spPr>
          <a:xfrm>
            <a:off x="6324600" y="44005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B54745"/>
                </a:solidFill>
              </a:defRPr>
            </a:pPr>
            <a:r>
              <a:rPr sz="1125" b="1">
                <a:solidFill>
                  <a:srgbClr val="B54745"/>
                </a:solidFill>
              </a:rPr>
              <a:t>Business consequence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228220E-586D-4D99-B08C-CEBB5A16FF0D}"/>
              </a:ext>
            </a:extLst>
          </p:cNvPr>
          <p:cNvSpPr>
            <a:spLocks noGrp="1"/>
          </p:cNvSpPr>
          <p:nvPr/>
        </p:nvSpPr>
        <p:spPr>
          <a:xfrm>
            <a:off x="6324600" y="4686300"/>
            <a:ext cx="461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Detection could be delayed, affecting reporting completeness and workflow accuracy.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0F809D-3A50-4CAA-8048-0BE5765EB02C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904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Report example: received 1 -&gt; 2 -&gt; 3 -&gt; 5 -&gt; 6; expected 1 -&gt; 2 -&gt; 3 -&gt; 4 -&gt; 5 -&gt; 6.</a:t>
            </a:r>
          </a:p>
        </p:txBody>
      </p:sp>
    </p:spTree>
    <p:extLst>
      <p:ext uri="{BB962C8B-B14F-4D97-AF65-F5344CB8AC3E}">
        <p14:creationId xmlns:p14="http://schemas.microsoft.com/office/powerpoint/2010/main" val="95545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3498B564-E821-4611-8DE7-D7768E6EBDF4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4FF21-D9B0-406A-AC1F-8131FCB004F4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PROBLEM 3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35F913-7EB2-472E-BD30-F5E8CAB3F2D5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6CA3A-324F-4D76-A3A6-4D1F8606B1DA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762BB-B342-4FD0-B7BA-0FA7BE2B3BB8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 strict two-minute SLA made delayed updates an operational intervention risk.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07EECD-3D9F-4B7F-B1F1-71DAFC762D60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Research Associates were expected to synchronize constituency updates almost immediately after ECI information became available.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65FEC26-C57A-4B73-ABA6-35BC7D01B246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9D39AD-9534-4C40-B7F1-CE538452E77D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524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F40560-00E9-4605-A7D6-306DCED87E2F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ECI data</a:t>
            </a:r>
          </a:p>
          <a:p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goes live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576DBBF-C70C-4E04-9131-93D918BDCB02}"/>
              </a:ext>
            </a:extLst>
          </p:cNvPr>
          <p:cNvSpPr>
            <a:spLocks noGrp="1"/>
          </p:cNvSpPr>
          <p:nvPr/>
        </p:nvSpPr>
        <p:spPr>
          <a:xfrm>
            <a:off x="2343150" y="2771775"/>
            <a:ext cx="4286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F175958-24FF-47FF-83E0-C8FF62484C91}"/>
              </a:ext>
            </a:extLst>
          </p:cNvPr>
          <p:cNvSpPr>
            <a:spLocks noGrp="1"/>
          </p:cNvSpPr>
          <p:nvPr/>
        </p:nvSpPr>
        <p:spPr>
          <a:xfrm>
            <a:off x="2694584" y="277177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595AB2F-D80A-4AC1-991E-2EA092DA3085}"/>
              </a:ext>
            </a:extLst>
          </p:cNvPr>
          <p:cNvSpPr>
            <a:spLocks noGrp="1"/>
          </p:cNvSpPr>
          <p:nvPr/>
        </p:nvSpPr>
        <p:spPr>
          <a:xfrm>
            <a:off x="2694584" y="273448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FC03E2-724E-4980-9401-C01637EDFB43}"/>
              </a:ext>
            </a:extLst>
          </p:cNvPr>
          <p:cNvSpPr>
            <a:spLocks noGrp="1"/>
          </p:cNvSpPr>
          <p:nvPr/>
        </p:nvSpPr>
        <p:spPr>
          <a:xfrm>
            <a:off x="2914650" y="2400300"/>
            <a:ext cx="1524000" cy="742950"/>
          </a:xfrm>
          <a:prstGeom prst="rect">
            <a:avLst/>
          </a:prstGeom>
          <a:solidFill>
            <a:srgbClr val="EAF1F6"/>
          </a:solidFill>
          <a:ln w="9525">
            <a:solidFill>
              <a:srgbClr val="4E7FA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C24678-6B49-4CD9-9914-50DBC208B925}"/>
              </a:ext>
            </a:extLst>
          </p:cNvPr>
          <p:cNvSpPr>
            <a:spLocks noGrp="1"/>
          </p:cNvSpPr>
          <p:nvPr/>
        </p:nvSpPr>
        <p:spPr>
          <a:xfrm>
            <a:off x="3067050" y="25717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RA update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CBA679D-6F6C-405E-9CF2-7D4CAC987B92}"/>
              </a:ext>
            </a:extLst>
          </p:cNvPr>
          <p:cNvSpPr>
            <a:spLocks noGrp="1"/>
          </p:cNvSpPr>
          <p:nvPr/>
        </p:nvSpPr>
        <p:spPr>
          <a:xfrm>
            <a:off x="4438650" y="2771775"/>
            <a:ext cx="4286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84B3EB0-A4E5-4768-AAA7-DC2F98A72749}"/>
              </a:ext>
            </a:extLst>
          </p:cNvPr>
          <p:cNvSpPr>
            <a:spLocks noGrp="1"/>
          </p:cNvSpPr>
          <p:nvPr/>
        </p:nvSpPr>
        <p:spPr>
          <a:xfrm>
            <a:off x="4790084" y="277177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7BB4980-44A1-4586-A8B4-8A80E077F330}"/>
              </a:ext>
            </a:extLst>
          </p:cNvPr>
          <p:cNvSpPr>
            <a:spLocks noGrp="1"/>
          </p:cNvSpPr>
          <p:nvPr/>
        </p:nvSpPr>
        <p:spPr>
          <a:xfrm>
            <a:off x="4790084" y="273448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374DCF-E983-42CD-9F3D-823586984A41}"/>
              </a:ext>
            </a:extLst>
          </p:cNvPr>
          <p:cNvSpPr>
            <a:spLocks noGrp="1"/>
          </p:cNvSpPr>
          <p:nvPr/>
        </p:nvSpPr>
        <p:spPr>
          <a:xfrm>
            <a:off x="5010150" y="2400300"/>
            <a:ext cx="1524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03FE11-262B-480D-8AB8-461E758901D0}"/>
              </a:ext>
            </a:extLst>
          </p:cNvPr>
          <p:cNvSpPr>
            <a:spLocks noGrp="1"/>
          </p:cNvSpPr>
          <p:nvPr/>
        </p:nvSpPr>
        <p:spPr>
          <a:xfrm>
            <a:off x="5162550" y="25717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Monitoring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B698F30-1E08-4911-B9E2-F43AB39ADED0}"/>
              </a:ext>
            </a:extLst>
          </p:cNvPr>
          <p:cNvSpPr>
            <a:spLocks noGrp="1"/>
          </p:cNvSpPr>
          <p:nvPr/>
        </p:nvSpPr>
        <p:spPr>
          <a:xfrm>
            <a:off x="6534150" y="2771775"/>
            <a:ext cx="4286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E6443E00-B065-432D-99C5-DFE3B76E6094}"/>
              </a:ext>
            </a:extLst>
          </p:cNvPr>
          <p:cNvSpPr>
            <a:spLocks noGrp="1"/>
          </p:cNvSpPr>
          <p:nvPr/>
        </p:nvSpPr>
        <p:spPr>
          <a:xfrm>
            <a:off x="6885584" y="277177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F938C5-3080-472E-AE40-1962A0E5104D}"/>
              </a:ext>
            </a:extLst>
          </p:cNvPr>
          <p:cNvSpPr>
            <a:spLocks noGrp="1"/>
          </p:cNvSpPr>
          <p:nvPr/>
        </p:nvSpPr>
        <p:spPr>
          <a:xfrm>
            <a:off x="6885584" y="273448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DFFEB1-B961-4C7F-BC19-65887D3165CD}"/>
              </a:ext>
            </a:extLst>
          </p:cNvPr>
          <p:cNvSpPr>
            <a:spLocks noGrp="1"/>
          </p:cNvSpPr>
          <p:nvPr/>
        </p:nvSpPr>
        <p:spPr>
          <a:xfrm>
            <a:off x="7105650" y="2400300"/>
            <a:ext cx="1524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D146AF-8F0E-4951-884A-84F19DDA1FC3}"/>
              </a:ext>
            </a:extLst>
          </p:cNvPr>
          <p:cNvSpPr>
            <a:spLocks noGrp="1"/>
          </p:cNvSpPr>
          <p:nvPr/>
        </p:nvSpPr>
        <p:spPr>
          <a:xfrm>
            <a:off x="7258050" y="25717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Validation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AD7A171F-0415-4656-BEC3-E8B30959D5AA}"/>
              </a:ext>
            </a:extLst>
          </p:cNvPr>
          <p:cNvSpPr>
            <a:spLocks noGrp="1"/>
          </p:cNvSpPr>
          <p:nvPr/>
        </p:nvSpPr>
        <p:spPr>
          <a:xfrm>
            <a:off x="8629650" y="2771775"/>
            <a:ext cx="4286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6CDBA724-4910-4AFB-B51A-6056CD1C1AB0}"/>
              </a:ext>
            </a:extLst>
          </p:cNvPr>
          <p:cNvSpPr>
            <a:spLocks noGrp="1"/>
          </p:cNvSpPr>
          <p:nvPr/>
        </p:nvSpPr>
        <p:spPr>
          <a:xfrm>
            <a:off x="8981084" y="2771775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3FAAD7D-A866-4293-B55A-A6E78B372807}"/>
              </a:ext>
            </a:extLst>
          </p:cNvPr>
          <p:cNvSpPr>
            <a:spLocks noGrp="1"/>
          </p:cNvSpPr>
          <p:nvPr/>
        </p:nvSpPr>
        <p:spPr>
          <a:xfrm>
            <a:off x="8981084" y="2734488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843066-3859-4DF7-AEA5-1B7C67D66C11}"/>
              </a:ext>
            </a:extLst>
          </p:cNvPr>
          <p:cNvSpPr>
            <a:spLocks noGrp="1"/>
          </p:cNvSpPr>
          <p:nvPr/>
        </p:nvSpPr>
        <p:spPr>
          <a:xfrm>
            <a:off x="9201150" y="2400300"/>
            <a:ext cx="15240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C1E689-06E3-42A0-847B-4923F83B7AA6}"/>
              </a:ext>
            </a:extLst>
          </p:cNvPr>
          <p:cNvSpPr>
            <a:spLocks noGrp="1"/>
          </p:cNvSpPr>
          <p:nvPr/>
        </p:nvSpPr>
        <p:spPr>
          <a:xfrm>
            <a:off x="9353550" y="25717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Escalation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786D4FF5-C5AE-455F-AAE9-5003CF4DEAE5}"/>
              </a:ext>
            </a:extLst>
          </p:cNvPr>
          <p:cNvSpPr>
            <a:spLocks noGrp="1"/>
          </p:cNvSpPr>
          <p:nvPr/>
        </p:nvSpPr>
        <p:spPr>
          <a:xfrm>
            <a:off x="2914650" y="3333750"/>
            <a:ext cx="0" cy="1028700"/>
          </a:xfrm>
          <a:prstGeom prst="line">
            <a:avLst/>
          </a:prstGeom>
          <a:ln w="19050">
            <a:solidFill>
              <a:srgbClr val="B5474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57AC55-53F5-40FF-996C-56D0FB3C9AC8}"/>
              </a:ext>
            </a:extLst>
          </p:cNvPr>
          <p:cNvSpPr>
            <a:spLocks noGrp="1"/>
          </p:cNvSpPr>
          <p:nvPr/>
        </p:nvSpPr>
        <p:spPr>
          <a:xfrm>
            <a:off x="3114675" y="36671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54745"/>
                </a:solidFill>
              </a:defRPr>
            </a:pPr>
            <a:r>
              <a:rPr sz="1275" b="1">
                <a:solidFill>
                  <a:srgbClr val="B54745"/>
                </a:solidFill>
              </a:rPr>
              <a:t>2-minute SLA window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E31E13-948E-4D83-8BBE-AF5749F5125F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1082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915D3F-5D75-4E8B-A510-F53DCA2735BC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2619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Why manual tracking was difficult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35FCCB-3D4C-48DD-A981-99BCB17654AA}"/>
              </a:ext>
            </a:extLst>
          </p:cNvPr>
          <p:cNvSpPr>
            <a:spLocks noGrp="1"/>
          </p:cNvSpPr>
          <p:nvPr/>
        </p:nvSpPr>
        <p:spPr>
          <a:xfrm>
            <a:off x="3657600" y="4895850"/>
            <a:ext cx="714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Monitoring timestamps across multiple constituencies increased the likelihood of delayed intervention when exceptions exceeded the threshold.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4DE3F0-5D8F-4B1B-8AE4-B58F4548E692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SLA rule in the report: SLA Delay = Current Time - Last Update Time; if delay &gt; 2 minutes, alert.</a:t>
            </a:r>
          </a:p>
        </p:txBody>
      </p:sp>
    </p:spTree>
    <p:extLst>
      <p:ext uri="{BB962C8B-B14F-4D97-AF65-F5344CB8AC3E}">
        <p14:creationId xmlns:p14="http://schemas.microsoft.com/office/powerpoint/2010/main" val="16433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F677FE74-B8A1-4C7A-AFFE-BA94347EA110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57BD49-4926-4F9B-97CC-76CE6DEE39DA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PROBLEM 4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ABC1315-3CDA-4065-BA84-980C3EAD75D0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EFE9D-8CBA-43ED-B1A0-ED3989BF1D4C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866560-3AD7-46C4-A84F-24CD09E94C3F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Fragmented records made it hard to answer a simple operational question: what is happening now?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8F8F88A-FD01-4006-95A4-A064379B86D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BACA4F-0011-4AD1-9B51-BBF19E8C785C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EC5D95-B76C-4B7A-9B23-0B2E212AFB8B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Constituency A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A9C5A56-837F-49FA-B27E-1B965D927630}"/>
              </a:ext>
            </a:extLst>
          </p:cNvPr>
          <p:cNvSpPr>
            <a:spLocks noGrp="1"/>
          </p:cNvSpPr>
          <p:nvPr/>
        </p:nvSpPr>
        <p:spPr>
          <a:xfrm>
            <a:off x="1504950" y="2600325"/>
            <a:ext cx="4591050" cy="14001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3EDB228A-CA4A-4CE3-BCDA-AED68D1E18C6}"/>
              </a:ext>
            </a:extLst>
          </p:cNvPr>
          <p:cNvSpPr>
            <a:spLocks noGrp="1"/>
          </p:cNvSpPr>
          <p:nvPr/>
        </p:nvSpPr>
        <p:spPr>
          <a:xfrm>
            <a:off x="6011289" y="4000500"/>
            <a:ext cx="84711" cy="1314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C54AE0A-74A6-4E78-9EBF-A22A0223CECB}"/>
              </a:ext>
            </a:extLst>
          </p:cNvPr>
          <p:cNvSpPr>
            <a:spLocks noGrp="1"/>
          </p:cNvSpPr>
          <p:nvPr/>
        </p:nvSpPr>
        <p:spPr>
          <a:xfrm>
            <a:off x="6033044" y="3942317"/>
            <a:ext cx="62956" cy="58183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383143-1A12-4CC0-9241-6188C305D0B8}"/>
              </a:ext>
            </a:extLst>
          </p:cNvPr>
          <p:cNvSpPr>
            <a:spLocks noGrp="1"/>
          </p:cNvSpPr>
          <p:nvPr/>
        </p:nvSpPr>
        <p:spPr>
          <a:xfrm>
            <a:off x="2638425" y="21431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4C8541-C4AC-4E76-BA43-6283A5FFDC1E}"/>
              </a:ext>
            </a:extLst>
          </p:cNvPr>
          <p:cNvSpPr>
            <a:spLocks noGrp="1"/>
          </p:cNvSpPr>
          <p:nvPr/>
        </p:nvSpPr>
        <p:spPr>
          <a:xfrm>
            <a:off x="2752725" y="22860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Constituency B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1E70AA2-67C8-49D4-81D7-449BD2700D1D}"/>
              </a:ext>
            </a:extLst>
          </p:cNvPr>
          <p:cNvSpPr>
            <a:spLocks noGrp="1"/>
          </p:cNvSpPr>
          <p:nvPr/>
        </p:nvSpPr>
        <p:spPr>
          <a:xfrm>
            <a:off x="3457575" y="2600325"/>
            <a:ext cx="2638425" cy="14001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A4DFBC4-E67E-4E4B-B4C4-B31CA1692644}"/>
              </a:ext>
            </a:extLst>
          </p:cNvPr>
          <p:cNvSpPr>
            <a:spLocks noGrp="1"/>
          </p:cNvSpPr>
          <p:nvPr/>
        </p:nvSpPr>
        <p:spPr>
          <a:xfrm>
            <a:off x="6010337" y="3997252"/>
            <a:ext cx="85663" cy="324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6082DFC-B725-437C-98D9-0372B8FCBBBE}"/>
              </a:ext>
            </a:extLst>
          </p:cNvPr>
          <p:cNvSpPr>
            <a:spLocks noGrp="1"/>
          </p:cNvSpPr>
          <p:nvPr/>
        </p:nvSpPr>
        <p:spPr>
          <a:xfrm>
            <a:off x="6045295" y="3931379"/>
            <a:ext cx="50705" cy="69121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F3A7CB-36DB-48C2-B64F-A30C8FDE8B71}"/>
              </a:ext>
            </a:extLst>
          </p:cNvPr>
          <p:cNvSpPr>
            <a:spLocks noGrp="1"/>
          </p:cNvSpPr>
          <p:nvPr/>
        </p:nvSpPr>
        <p:spPr>
          <a:xfrm>
            <a:off x="4591050" y="21431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FCC05E-DB6E-47E6-9098-F420A2A3495A}"/>
              </a:ext>
            </a:extLst>
          </p:cNvPr>
          <p:cNvSpPr>
            <a:spLocks noGrp="1"/>
          </p:cNvSpPr>
          <p:nvPr/>
        </p:nvSpPr>
        <p:spPr>
          <a:xfrm>
            <a:off x="4705350" y="22860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Constituency C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E7A5E862-D711-4EB2-BBA2-D07821DD26EE}"/>
              </a:ext>
            </a:extLst>
          </p:cNvPr>
          <p:cNvSpPr>
            <a:spLocks noGrp="1"/>
          </p:cNvSpPr>
          <p:nvPr/>
        </p:nvSpPr>
        <p:spPr>
          <a:xfrm>
            <a:off x="5410200" y="2600325"/>
            <a:ext cx="685800" cy="14001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91F51A-D5F2-4FB5-9C5C-F83279E9D2E6}"/>
              </a:ext>
            </a:extLst>
          </p:cNvPr>
          <p:cNvSpPr>
            <a:spLocks noGrp="1"/>
          </p:cNvSpPr>
          <p:nvPr/>
        </p:nvSpPr>
        <p:spPr>
          <a:xfrm>
            <a:off x="6028560" y="3947579"/>
            <a:ext cx="67440" cy="52921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15F85F2-29D0-404E-AC8A-743F6D627AD8}"/>
              </a:ext>
            </a:extLst>
          </p:cNvPr>
          <p:cNvSpPr>
            <a:spLocks noGrp="1"/>
          </p:cNvSpPr>
          <p:nvPr/>
        </p:nvSpPr>
        <p:spPr>
          <a:xfrm>
            <a:off x="6095533" y="3914776"/>
            <a:ext cx="467" cy="85724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302A6F-56BD-4011-81E1-7222EFCE9031}"/>
              </a:ext>
            </a:extLst>
          </p:cNvPr>
          <p:cNvSpPr>
            <a:spLocks noGrp="1"/>
          </p:cNvSpPr>
          <p:nvPr/>
        </p:nvSpPr>
        <p:spPr>
          <a:xfrm>
            <a:off x="6543675" y="21431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989EA4-06BE-4FBA-988C-DF5C517FF70D}"/>
              </a:ext>
            </a:extLst>
          </p:cNvPr>
          <p:cNvSpPr>
            <a:spLocks noGrp="1"/>
          </p:cNvSpPr>
          <p:nvPr/>
        </p:nvSpPr>
        <p:spPr>
          <a:xfrm>
            <a:off x="6657975" y="22860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RA1 / RA2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CBEF6D9-EB49-4A01-993F-FCEC202EC575}"/>
              </a:ext>
            </a:extLst>
          </p:cNvPr>
          <p:cNvSpPr>
            <a:spLocks noGrp="1"/>
          </p:cNvSpPr>
          <p:nvPr/>
        </p:nvSpPr>
        <p:spPr>
          <a:xfrm>
            <a:off x="6096000" y="2600325"/>
            <a:ext cx="1266825" cy="14001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2E3DE740-BD7C-47B5-9625-5A3B7B4ADCD7}"/>
              </a:ext>
            </a:extLst>
          </p:cNvPr>
          <p:cNvSpPr>
            <a:spLocks noGrp="1"/>
          </p:cNvSpPr>
          <p:nvPr/>
        </p:nvSpPr>
        <p:spPr>
          <a:xfrm>
            <a:off x="6096000" y="3918244"/>
            <a:ext cx="24138" cy="82256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B6A5F4A-6AC8-4AF8-B167-A707A5EB4839}"/>
              </a:ext>
            </a:extLst>
          </p:cNvPr>
          <p:cNvSpPr>
            <a:spLocks noGrp="1"/>
          </p:cNvSpPr>
          <p:nvPr/>
        </p:nvSpPr>
        <p:spPr>
          <a:xfrm>
            <a:off x="6096000" y="3968277"/>
            <a:ext cx="79438" cy="32223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C99105-CCCE-47BC-9EEB-B81B36171713}"/>
              </a:ext>
            </a:extLst>
          </p:cNvPr>
          <p:cNvSpPr>
            <a:spLocks noGrp="1"/>
          </p:cNvSpPr>
          <p:nvPr/>
        </p:nvSpPr>
        <p:spPr>
          <a:xfrm>
            <a:off x="685800" y="28670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8750BF-28F1-4198-AA1F-EF6F72F8D517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Rounds</a:t>
            </a: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E0594F66-9C8C-4A1B-A216-4ABBD88273EB}"/>
              </a:ext>
            </a:extLst>
          </p:cNvPr>
          <p:cNvSpPr>
            <a:spLocks noGrp="1"/>
          </p:cNvSpPr>
          <p:nvPr/>
        </p:nvSpPr>
        <p:spPr>
          <a:xfrm>
            <a:off x="1504950" y="3324225"/>
            <a:ext cx="4591050" cy="6762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EC4755B0-71F7-4B7A-8E4E-952A2F5513F3}"/>
              </a:ext>
            </a:extLst>
          </p:cNvPr>
          <p:cNvSpPr>
            <a:spLocks noGrp="1"/>
          </p:cNvSpPr>
          <p:nvPr/>
        </p:nvSpPr>
        <p:spPr>
          <a:xfrm>
            <a:off x="6014199" y="4000500"/>
            <a:ext cx="81801" cy="2564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B2348C3-3D41-4B8E-99AE-E48072F371DE}"/>
              </a:ext>
            </a:extLst>
          </p:cNvPr>
          <p:cNvSpPr>
            <a:spLocks noGrp="1"/>
          </p:cNvSpPr>
          <p:nvPr/>
        </p:nvSpPr>
        <p:spPr>
          <a:xfrm>
            <a:off x="6025067" y="3952362"/>
            <a:ext cx="70933" cy="4813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34D297-079F-48CD-A229-610071F7ACDC}"/>
              </a:ext>
            </a:extLst>
          </p:cNvPr>
          <p:cNvSpPr>
            <a:spLocks noGrp="1"/>
          </p:cNvSpPr>
          <p:nvPr/>
        </p:nvSpPr>
        <p:spPr>
          <a:xfrm>
            <a:off x="2638425" y="28670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5DF0DD-4B92-40B2-AE48-6BFCAA80C020}"/>
              </a:ext>
            </a:extLst>
          </p:cNvPr>
          <p:cNvSpPr>
            <a:spLocks noGrp="1"/>
          </p:cNvSpPr>
          <p:nvPr/>
        </p:nvSpPr>
        <p:spPr>
          <a:xfrm>
            <a:off x="2752725" y="30099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Status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49A87D99-D9E7-48AF-B819-108B73FE0304}"/>
              </a:ext>
            </a:extLst>
          </p:cNvPr>
          <p:cNvSpPr>
            <a:spLocks noGrp="1"/>
          </p:cNvSpPr>
          <p:nvPr/>
        </p:nvSpPr>
        <p:spPr>
          <a:xfrm>
            <a:off x="3457575" y="3324225"/>
            <a:ext cx="2638425" cy="6762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BA752D55-12F2-46B3-B8CF-39E672F431E3}"/>
              </a:ext>
            </a:extLst>
          </p:cNvPr>
          <p:cNvSpPr>
            <a:spLocks noGrp="1"/>
          </p:cNvSpPr>
          <p:nvPr/>
        </p:nvSpPr>
        <p:spPr>
          <a:xfrm>
            <a:off x="6011968" y="4000500"/>
            <a:ext cx="84032" cy="16954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EDC53455-CFEB-49C3-9C6F-E4933542F086}"/>
              </a:ext>
            </a:extLst>
          </p:cNvPr>
          <p:cNvSpPr>
            <a:spLocks noGrp="1"/>
          </p:cNvSpPr>
          <p:nvPr/>
        </p:nvSpPr>
        <p:spPr>
          <a:xfrm>
            <a:off x="6030485" y="3945214"/>
            <a:ext cx="65515" cy="55286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E7E814-EB48-44DD-B7A1-E868872336E6}"/>
              </a:ext>
            </a:extLst>
          </p:cNvPr>
          <p:cNvSpPr>
            <a:spLocks noGrp="1"/>
          </p:cNvSpPr>
          <p:nvPr/>
        </p:nvSpPr>
        <p:spPr>
          <a:xfrm>
            <a:off x="4591050" y="2867025"/>
            <a:ext cx="16383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73CBC1-B148-4B44-9E9A-9A439F448276}"/>
              </a:ext>
            </a:extLst>
          </p:cNvPr>
          <p:cNvSpPr>
            <a:spLocks noGrp="1"/>
          </p:cNvSpPr>
          <p:nvPr/>
        </p:nvSpPr>
        <p:spPr>
          <a:xfrm>
            <a:off x="4705350" y="3009900"/>
            <a:ext cx="1381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02B38"/>
                </a:solidFill>
              </a:defRPr>
            </a:pPr>
            <a:r>
              <a:rPr sz="1050" b="1">
                <a:solidFill>
                  <a:srgbClr val="202B38"/>
                </a:solidFill>
              </a:rPr>
              <a:t>Exceptions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8ECAD775-A42C-4A17-BC6E-F861D4B17A10}"/>
              </a:ext>
            </a:extLst>
          </p:cNvPr>
          <p:cNvSpPr>
            <a:spLocks noGrp="1"/>
          </p:cNvSpPr>
          <p:nvPr/>
        </p:nvSpPr>
        <p:spPr>
          <a:xfrm>
            <a:off x="5410200" y="3324225"/>
            <a:ext cx="685800" cy="6762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40A00DB8-6D19-4A3C-842C-E2BE10DF41A0}"/>
              </a:ext>
            </a:extLst>
          </p:cNvPr>
          <p:cNvSpPr>
            <a:spLocks noGrp="1"/>
          </p:cNvSpPr>
          <p:nvPr/>
        </p:nvSpPr>
        <p:spPr>
          <a:xfrm>
            <a:off x="6014856" y="3972851"/>
            <a:ext cx="81144" cy="27649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13026321-6E33-41F5-B911-457EFD65B572}"/>
              </a:ext>
            </a:extLst>
          </p:cNvPr>
          <p:cNvSpPr>
            <a:spLocks noGrp="1"/>
          </p:cNvSpPr>
          <p:nvPr/>
        </p:nvSpPr>
        <p:spPr>
          <a:xfrm>
            <a:off x="6067219" y="3919751"/>
            <a:ext cx="28781" cy="80749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28799C-3252-40F3-88B0-A2221139FCAC}"/>
              </a:ext>
            </a:extLst>
          </p:cNvPr>
          <p:cNvSpPr>
            <a:spLocks noGrp="1"/>
          </p:cNvSpPr>
          <p:nvPr/>
        </p:nvSpPr>
        <p:spPr>
          <a:xfrm>
            <a:off x="7381875" y="2333625"/>
            <a:ext cx="3381375" cy="17145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C68CC9-7A3D-4CDA-A411-518AF7BD82B4}"/>
              </a:ext>
            </a:extLst>
          </p:cNvPr>
          <p:cNvSpPr>
            <a:spLocks noGrp="1"/>
          </p:cNvSpPr>
          <p:nvPr/>
        </p:nvSpPr>
        <p:spPr>
          <a:xfrm>
            <a:off x="7686675" y="2743200"/>
            <a:ext cx="276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What is happening</a:t>
            </a: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right now?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A06209-4BA4-46A6-A3AA-C8E23D31EE44}"/>
              </a:ext>
            </a:extLst>
          </p:cNvPr>
          <p:cNvSpPr>
            <a:spLocks noGrp="1"/>
          </p:cNvSpPr>
          <p:nvPr/>
        </p:nvSpPr>
        <p:spPr>
          <a:xfrm>
            <a:off x="7686675" y="3514725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DCE8F1"/>
                </a:solidFill>
              </a:defRPr>
            </a:pPr>
            <a:r>
              <a:rPr sz="1050" b="0">
                <a:solidFill>
                  <a:srgbClr val="DCE8F1"/>
                </a:solidFill>
              </a:rPr>
              <a:t>No single, consolidated monitoring view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BD2F58-9273-4F53-A264-DF89DA0E746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077450" cy="590550"/>
          </a:xfrm>
          <a:prstGeom prst="rect">
            <a:avLst/>
          </a:prstGeom>
          <a:solidFill>
            <a:srgbClr val="EAF1F6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EE8367-35CD-4CB2-9312-3AFFDD9FA906}"/>
              </a:ext>
            </a:extLst>
          </p:cNvPr>
          <p:cNvSpPr>
            <a:spLocks noGrp="1"/>
          </p:cNvSpPr>
          <p:nvPr/>
        </p:nvSpPr>
        <p:spPr>
          <a:xfrm>
            <a:off x="895350" y="50101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Visibility gap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44DB027-B003-4167-8C8B-27CC913C320B}"/>
              </a:ext>
            </a:extLst>
          </p:cNvPr>
          <p:cNvSpPr>
            <a:spLocks noGrp="1"/>
          </p:cNvSpPr>
          <p:nvPr/>
        </p:nvSpPr>
        <p:spPr>
          <a:xfrm>
            <a:off x="2571750" y="4972050"/>
            <a:ext cx="771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Information scattered across records limited situational awareness and slowed identification of constituencies requiring immediate attention.</a:t>
            </a:r>
          </a:p>
        </p:txBody>
      </p:sp>
    </p:spTree>
    <p:extLst>
      <p:ext uri="{BB962C8B-B14F-4D97-AF65-F5344CB8AC3E}">
        <p14:creationId xmlns:p14="http://schemas.microsoft.com/office/powerpoint/2010/main" val="19951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86B4BF5-C18E-4DB9-9D50-2CDC67939E93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B3B5AF-E8C8-4456-983D-0D7D9AE3810D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SOLUTION 1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DD8C20-2C7A-4E75-BBB5-A1F35B5649F7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DE86D2-1D08-4D81-9DD6-A1889FA98BA8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61A52-4C30-4E75-AAB7-8678801A2282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Live Monitoring Dashboard centralized constituency status, progress and exceptions in one view.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36F94C-D3EF-4CC3-B720-E1D7F4ECB5DF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Implementation evidence from the CIP report; screenshot is reproduced from the developed prototype.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50ED231-A818-413D-9E0A-73DFD7334D13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6B0407-74FF-4DA6-9604-ED7F19B3518B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7239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8675" y="2164989"/>
            <a:ext cx="6953250" cy="262327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E67CF2-4252-4F3A-B494-53055079E41A}"/>
              </a:ext>
            </a:extLst>
          </p:cNvPr>
          <p:cNvSpPr>
            <a:spLocks noGrp="1"/>
          </p:cNvSpPr>
          <p:nvPr/>
        </p:nvSpPr>
        <p:spPr>
          <a:xfrm>
            <a:off x="8401050" y="1952625"/>
            <a:ext cx="28575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CF5944-666D-40CA-A7B3-B5AD90958765}"/>
              </a:ext>
            </a:extLst>
          </p:cNvPr>
          <p:cNvSpPr>
            <a:spLocks noGrp="1"/>
          </p:cNvSpPr>
          <p:nvPr/>
        </p:nvSpPr>
        <p:spPr>
          <a:xfrm>
            <a:off x="8401050" y="1952625"/>
            <a:ext cx="47625" cy="904875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2DF192-47D8-4042-A401-395B75D08D25}"/>
              </a:ext>
            </a:extLst>
          </p:cNvPr>
          <p:cNvSpPr>
            <a:spLocks noGrp="1"/>
          </p:cNvSpPr>
          <p:nvPr/>
        </p:nvSpPr>
        <p:spPr>
          <a:xfrm>
            <a:off x="8572500" y="2105025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One operational 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73867B-D0CC-46B2-B39B-71A85BE5115A}"/>
              </a:ext>
            </a:extLst>
          </p:cNvPr>
          <p:cNvSpPr>
            <a:spLocks noGrp="1"/>
          </p:cNvSpPr>
          <p:nvPr/>
        </p:nvSpPr>
        <p:spPr>
          <a:xfrm>
            <a:off x="8572500" y="2409825"/>
            <a:ext cx="2571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Constituency status, latest round, leader, missing rounds and SLA status.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5CA062-B666-4B9E-B774-8E5E95B330A1}"/>
              </a:ext>
            </a:extLst>
          </p:cNvPr>
          <p:cNvSpPr>
            <a:spLocks noGrp="1"/>
          </p:cNvSpPr>
          <p:nvPr/>
        </p:nvSpPr>
        <p:spPr>
          <a:xfrm>
            <a:off x="8401050" y="3057525"/>
            <a:ext cx="28575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4EBBA8-0F4A-4374-A01B-363511AF2BE0}"/>
              </a:ext>
            </a:extLst>
          </p:cNvPr>
          <p:cNvSpPr>
            <a:spLocks noGrp="1"/>
          </p:cNvSpPr>
          <p:nvPr/>
        </p:nvSpPr>
        <p:spPr>
          <a:xfrm>
            <a:off x="8401050" y="3057525"/>
            <a:ext cx="47625" cy="904875"/>
          </a:xfrm>
          <a:prstGeom prst="rect">
            <a:avLst/>
          </a:prstGeom>
          <a:solidFill>
            <a:srgbClr val="367A5A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4A845-C268-4230-8B5D-F8CEE57D5F35}"/>
              </a:ext>
            </a:extLst>
          </p:cNvPr>
          <p:cNvSpPr>
            <a:spLocks noGrp="1"/>
          </p:cNvSpPr>
          <p:nvPr/>
        </p:nvSpPr>
        <p:spPr>
          <a:xfrm>
            <a:off x="8572500" y="3209925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Attention focus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3F1A63-B07C-44C7-B455-1C3D52FAF5AF}"/>
              </a:ext>
            </a:extLst>
          </p:cNvPr>
          <p:cNvSpPr>
            <a:spLocks noGrp="1"/>
          </p:cNvSpPr>
          <p:nvPr/>
        </p:nvSpPr>
        <p:spPr>
          <a:xfrm>
            <a:off x="8572500" y="3514725"/>
            <a:ext cx="2571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Team Leaders can identify constituencies requiring attention without reviewing each record separately.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9357B8-84AD-4ED6-95F6-02C7D4B0FC65}"/>
              </a:ext>
            </a:extLst>
          </p:cNvPr>
          <p:cNvSpPr>
            <a:spLocks noGrp="1"/>
          </p:cNvSpPr>
          <p:nvPr/>
        </p:nvSpPr>
        <p:spPr>
          <a:xfrm>
            <a:off x="8401050" y="4162425"/>
            <a:ext cx="28575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774B84-7F8B-4AB2-AC30-7349BB90BF5C}"/>
              </a:ext>
            </a:extLst>
          </p:cNvPr>
          <p:cNvSpPr>
            <a:spLocks noGrp="1"/>
          </p:cNvSpPr>
          <p:nvPr/>
        </p:nvSpPr>
        <p:spPr>
          <a:xfrm>
            <a:off x="8401050" y="4162425"/>
            <a:ext cx="47625" cy="904875"/>
          </a:xfrm>
          <a:prstGeom prst="rect">
            <a:avLst/>
          </a:prstGeom>
          <a:solidFill>
            <a:srgbClr val="B7791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C9E18F-1BBE-4CE7-92FD-83746EC56DC1}"/>
              </a:ext>
            </a:extLst>
          </p:cNvPr>
          <p:cNvSpPr>
            <a:spLocks noGrp="1"/>
          </p:cNvSpPr>
          <p:nvPr/>
        </p:nvSpPr>
        <p:spPr>
          <a:xfrm>
            <a:off x="8572500" y="4314825"/>
            <a:ext cx="2571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Demonstrated capability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D51E93-5F23-49BA-A997-5B89063E60DB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571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Prototype dashboard shown to the Corporate Mentor; not an organizational deployment.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DD20AC-B9CA-456A-A746-B8259640ABB2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Evidence: report Figure 3 / Proof 3 - Live Monitoring Dashboard.</a:t>
            </a:r>
          </a:p>
        </p:txBody>
      </p:sp>
    </p:spTree>
    <p:extLst>
      <p:ext uri="{BB962C8B-B14F-4D97-AF65-F5344CB8AC3E}">
        <p14:creationId xmlns:p14="http://schemas.microsoft.com/office/powerpoint/2010/main" val="75657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27205CDF-3119-4AE3-AA45-D12C7F52A476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C3833D-D2AF-4FED-909A-BBB4B7B8AFB0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SOLUTION 2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855B73-CC78-4F36-8ADA-ED0A4FEBE450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030021-4FF4-419C-8831-2E7837F0ECA1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2B3E78-179F-4697-98BE-D939FC8A9FA1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Missing Round Detection Engine automated sequence validation and exception flagging.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5C0F60-E37E-47D6-9011-08F7FB117B3D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The prototype compares reported rounds against the expected sequential pattern.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A05E5A33-2A93-45C9-BAA9-A23201854E0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26ACC7-1C3F-49A9-BC86-6801F9686854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5049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F610A-5647-4501-B5C1-2952EED2E737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Input data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8E1282A7-D48B-4A47-94E8-F96550745B80}"/>
              </a:ext>
            </a:extLst>
          </p:cNvPr>
          <p:cNvSpPr>
            <a:spLocks noGrp="1"/>
          </p:cNvSpPr>
          <p:nvPr/>
        </p:nvSpPr>
        <p:spPr>
          <a:xfrm>
            <a:off x="2190750" y="2381250"/>
            <a:ext cx="21907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C3EC5D6-4A80-4346-A94F-FE9DEE264B7C}"/>
              </a:ext>
            </a:extLst>
          </p:cNvPr>
          <p:cNvSpPr>
            <a:spLocks noGrp="1"/>
          </p:cNvSpPr>
          <p:nvPr/>
        </p:nvSpPr>
        <p:spPr>
          <a:xfrm>
            <a:off x="2332634" y="238125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922FF11-5748-4053-87BF-8226C90EAF6C}"/>
              </a:ext>
            </a:extLst>
          </p:cNvPr>
          <p:cNvSpPr>
            <a:spLocks noGrp="1"/>
          </p:cNvSpPr>
          <p:nvPr/>
        </p:nvSpPr>
        <p:spPr>
          <a:xfrm>
            <a:off x="2332634" y="234396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A96EF2-6AAC-4BE1-A990-977180BDD5C4}"/>
              </a:ext>
            </a:extLst>
          </p:cNvPr>
          <p:cNvSpPr>
            <a:spLocks noGrp="1"/>
          </p:cNvSpPr>
          <p:nvPr/>
        </p:nvSpPr>
        <p:spPr>
          <a:xfrm>
            <a:off x="2495550" y="2076450"/>
            <a:ext cx="15049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A033B8-9984-41D5-A510-0CFA0209ECE4}"/>
              </a:ext>
            </a:extLst>
          </p:cNvPr>
          <p:cNvSpPr>
            <a:spLocks noGrp="1"/>
          </p:cNvSpPr>
          <p:nvPr/>
        </p:nvSpPr>
        <p:spPr>
          <a:xfrm>
            <a:off x="2590800" y="22860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Expected round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EC68922-3FEE-4EE4-86E1-3F222F673600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21907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2509F26-11E6-418D-9818-357FBA3EBEB9}"/>
              </a:ext>
            </a:extLst>
          </p:cNvPr>
          <p:cNvSpPr>
            <a:spLocks noGrp="1"/>
          </p:cNvSpPr>
          <p:nvPr/>
        </p:nvSpPr>
        <p:spPr>
          <a:xfrm>
            <a:off x="4142384" y="238125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32FDEDB-9D06-442C-ACAE-B1E810DCAB0C}"/>
              </a:ext>
            </a:extLst>
          </p:cNvPr>
          <p:cNvSpPr>
            <a:spLocks noGrp="1"/>
          </p:cNvSpPr>
          <p:nvPr/>
        </p:nvSpPr>
        <p:spPr>
          <a:xfrm>
            <a:off x="4142384" y="234396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26F5B2-3FD7-41B2-ADB9-32D9D438D5DF}"/>
              </a:ext>
            </a:extLst>
          </p:cNvPr>
          <p:cNvSpPr>
            <a:spLocks noGrp="1"/>
          </p:cNvSpPr>
          <p:nvPr/>
        </p:nvSpPr>
        <p:spPr>
          <a:xfrm>
            <a:off x="4305300" y="2076450"/>
            <a:ext cx="15049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41CC09-AE58-4E3D-864D-18E286F4E786}"/>
              </a:ext>
            </a:extLst>
          </p:cNvPr>
          <p:cNvSpPr>
            <a:spLocks noGrp="1"/>
          </p:cNvSpPr>
          <p:nvPr/>
        </p:nvSpPr>
        <p:spPr>
          <a:xfrm>
            <a:off x="4400550" y="22860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Actual round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078A29BC-4C36-4D24-8F0B-E4249B720489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21907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A4BC94E-D935-42B3-B2A7-9D0CC5443C3B}"/>
              </a:ext>
            </a:extLst>
          </p:cNvPr>
          <p:cNvSpPr>
            <a:spLocks noGrp="1"/>
          </p:cNvSpPr>
          <p:nvPr/>
        </p:nvSpPr>
        <p:spPr>
          <a:xfrm>
            <a:off x="5952134" y="238125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AD0A9ABD-99DF-49BA-883B-975915CD084C}"/>
              </a:ext>
            </a:extLst>
          </p:cNvPr>
          <p:cNvSpPr>
            <a:spLocks noGrp="1"/>
          </p:cNvSpPr>
          <p:nvPr/>
        </p:nvSpPr>
        <p:spPr>
          <a:xfrm>
            <a:off x="5952134" y="234396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6FE6A3-D6C1-47E7-9C3F-3ABD28EF043D}"/>
              </a:ext>
            </a:extLst>
          </p:cNvPr>
          <p:cNvSpPr>
            <a:spLocks noGrp="1"/>
          </p:cNvSpPr>
          <p:nvPr/>
        </p:nvSpPr>
        <p:spPr>
          <a:xfrm>
            <a:off x="6115050" y="2076450"/>
            <a:ext cx="15049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088F27-F8F6-45FF-864C-7C085607DFF1}"/>
              </a:ext>
            </a:extLst>
          </p:cNvPr>
          <p:cNvSpPr>
            <a:spLocks noGrp="1"/>
          </p:cNvSpPr>
          <p:nvPr/>
        </p:nvSpPr>
        <p:spPr>
          <a:xfrm>
            <a:off x="6210300" y="22860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Compare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20E5A76-B54E-43CC-A910-B6F8C5F39951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21907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7F9D2ABE-2C94-4CA9-8808-AA2A6D29C5BF}"/>
              </a:ext>
            </a:extLst>
          </p:cNvPr>
          <p:cNvSpPr>
            <a:spLocks noGrp="1"/>
          </p:cNvSpPr>
          <p:nvPr/>
        </p:nvSpPr>
        <p:spPr>
          <a:xfrm>
            <a:off x="7761884" y="238125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99276B06-695A-4254-B9D7-C705E7AFA639}"/>
              </a:ext>
            </a:extLst>
          </p:cNvPr>
          <p:cNvSpPr>
            <a:spLocks noGrp="1"/>
          </p:cNvSpPr>
          <p:nvPr/>
        </p:nvSpPr>
        <p:spPr>
          <a:xfrm>
            <a:off x="7761884" y="234396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EFE486-D36F-4261-B38A-53D0FA340B7F}"/>
              </a:ext>
            </a:extLst>
          </p:cNvPr>
          <p:cNvSpPr>
            <a:spLocks noGrp="1"/>
          </p:cNvSpPr>
          <p:nvPr/>
        </p:nvSpPr>
        <p:spPr>
          <a:xfrm>
            <a:off x="7924800" y="2076450"/>
            <a:ext cx="1504950" cy="609600"/>
          </a:xfrm>
          <a:prstGeom prst="rect">
            <a:avLst/>
          </a:prstGeom>
          <a:solidFill>
            <a:srgbClr val="EAF1F6"/>
          </a:solidFill>
          <a:ln w="9525">
            <a:solidFill>
              <a:srgbClr val="4E7FA8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AF2516-763D-4FC8-8E3D-51C2FB700D40}"/>
              </a:ext>
            </a:extLst>
          </p:cNvPr>
          <p:cNvSpPr>
            <a:spLocks noGrp="1"/>
          </p:cNvSpPr>
          <p:nvPr/>
        </p:nvSpPr>
        <p:spPr>
          <a:xfrm>
            <a:off x="8020050" y="22860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Missing round detected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0FDA7AE9-B6A1-4640-9777-3FE6EF90A37A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21907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C3A8D27D-03F6-4142-86BC-590AF03E216A}"/>
              </a:ext>
            </a:extLst>
          </p:cNvPr>
          <p:cNvSpPr>
            <a:spLocks noGrp="1"/>
          </p:cNvSpPr>
          <p:nvPr/>
        </p:nvSpPr>
        <p:spPr>
          <a:xfrm>
            <a:off x="9571634" y="238125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9DBDDB29-6368-4A7C-B9B9-ED983366FA7F}"/>
              </a:ext>
            </a:extLst>
          </p:cNvPr>
          <p:cNvSpPr>
            <a:spLocks noGrp="1"/>
          </p:cNvSpPr>
          <p:nvPr/>
        </p:nvSpPr>
        <p:spPr>
          <a:xfrm>
            <a:off x="9571634" y="234396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8B6D8A-9224-41A2-AB53-D1BF514E826F}"/>
              </a:ext>
            </a:extLst>
          </p:cNvPr>
          <p:cNvSpPr>
            <a:spLocks noGrp="1"/>
          </p:cNvSpPr>
          <p:nvPr/>
        </p:nvSpPr>
        <p:spPr>
          <a:xfrm>
            <a:off x="9734550" y="2076450"/>
            <a:ext cx="1504950" cy="609600"/>
          </a:xfrm>
          <a:prstGeom prst="rect">
            <a:avLst/>
          </a:prstGeom>
          <a:solidFill>
            <a:srgbClr val="EAF1F6"/>
          </a:solidFill>
          <a:ln w="9525">
            <a:solidFill>
              <a:srgbClr val="4E7FA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B28E26-2DB8-468B-8534-806060B695B8}"/>
              </a:ext>
            </a:extLst>
          </p:cNvPr>
          <p:cNvSpPr>
            <a:spLocks noGrp="1"/>
          </p:cNvSpPr>
          <p:nvPr/>
        </p:nvSpPr>
        <p:spPr>
          <a:xfrm>
            <a:off x="9829800" y="2286000"/>
            <a:ext cx="1314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Exception flag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1E62E4-87C0-4EFD-BB01-A3A701731FAC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000500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1998F6-912C-478B-B815-892D72BD3741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905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Prototype validation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63E556D-A125-46FE-9706-F395AE5D8532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3333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Input: rounds available = 1, 2, 4</a:t>
            </a:r>
          </a:p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Expected output: missing round = 3</a:t>
            </a:r>
          </a:p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Actual result: successfully detected</a:t>
            </a:r>
          </a:p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Status: PASS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4CC7DA-0254-4271-9F11-14E17089581F}"/>
              </a:ext>
            </a:extLst>
          </p:cNvPr>
          <p:cNvSpPr>
            <a:spLocks noGrp="1"/>
          </p:cNvSpPr>
          <p:nvPr/>
        </p:nvSpPr>
        <p:spPr>
          <a:xfrm>
            <a:off x="5095875" y="3238500"/>
            <a:ext cx="6143625" cy="1790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65096" y="3390900"/>
            <a:ext cx="4405184" cy="14859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F3797E4C-260F-4D3E-AC37-6BF69D33C1A3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Live database evidence: missing-round field is surfaced alongside constituency data.</a:t>
            </a:r>
          </a:p>
        </p:txBody>
      </p:sp>
    </p:spTree>
    <p:extLst>
      <p:ext uri="{BB962C8B-B14F-4D97-AF65-F5344CB8AC3E}">
        <p14:creationId xmlns:p14="http://schemas.microsoft.com/office/powerpoint/2010/main" val="72994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E66A2373-123A-4ED1-8A38-6932D7E7DC97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6F123-3866-45B5-A94F-A84CB01B1403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SLA &amp; ALERTS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EB2B93-CBC5-4D28-BFF4-3B751D8040DD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BDB5B1-7C96-473D-9996-514F3D9DE858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C0D62-CC2A-432A-A36E-FDB23559FDB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SLA Monitoring and Voice Alert modules turned timestamp exceptions into immediate attention signals.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C3646-7CE3-4285-84F2-782C00AC60FB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The system monitors the two-minute threshold and generates alerts for delays, missing rounds and critical workflow exceptions.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5D1D793-DFC7-46C0-999F-790BAD6C74F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BB6ED-EEF5-49B4-AF69-65426EF04353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1752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B7CCDB-8FE4-4A32-B03F-BDF9A19176DD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Round update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E2ABB3C-9D28-47E5-87C1-F67878A27BF6}"/>
              </a:ext>
            </a:extLst>
          </p:cNvPr>
          <p:cNvSpPr>
            <a:spLocks noGrp="1"/>
          </p:cNvSpPr>
          <p:nvPr/>
        </p:nvSpPr>
        <p:spPr>
          <a:xfrm>
            <a:off x="2438400" y="2324100"/>
            <a:ext cx="2667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C56F5EC-DAF8-499C-B2A3-91E8CF74516D}"/>
              </a:ext>
            </a:extLst>
          </p:cNvPr>
          <p:cNvSpPr>
            <a:spLocks noGrp="1"/>
          </p:cNvSpPr>
          <p:nvPr/>
        </p:nvSpPr>
        <p:spPr>
          <a:xfrm>
            <a:off x="2627909" y="232410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A20DB6C-D558-4156-A9CE-2F3105F9F568}"/>
              </a:ext>
            </a:extLst>
          </p:cNvPr>
          <p:cNvSpPr>
            <a:spLocks noGrp="1"/>
          </p:cNvSpPr>
          <p:nvPr/>
        </p:nvSpPr>
        <p:spPr>
          <a:xfrm>
            <a:off x="2627909" y="228681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7EB54-E51C-48AF-B103-CA946D01AEFD}"/>
              </a:ext>
            </a:extLst>
          </p:cNvPr>
          <p:cNvSpPr>
            <a:spLocks noGrp="1"/>
          </p:cNvSpPr>
          <p:nvPr/>
        </p:nvSpPr>
        <p:spPr>
          <a:xfrm>
            <a:off x="2828925" y="2019300"/>
            <a:ext cx="1752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9506B1-399B-4A97-8130-163CA2B8C3E6}"/>
              </a:ext>
            </a:extLst>
          </p:cNvPr>
          <p:cNvSpPr>
            <a:spLocks noGrp="1"/>
          </p:cNvSpPr>
          <p:nvPr/>
        </p:nvSpPr>
        <p:spPr>
          <a:xfrm>
            <a:off x="2943225" y="22383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Time difference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B20B0D5-97F4-4ED0-AC44-18508814DCEB}"/>
              </a:ext>
            </a:extLst>
          </p:cNvPr>
          <p:cNvSpPr>
            <a:spLocks noGrp="1"/>
          </p:cNvSpPr>
          <p:nvPr/>
        </p:nvSpPr>
        <p:spPr>
          <a:xfrm>
            <a:off x="4581525" y="2324100"/>
            <a:ext cx="2667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5A47DE7A-E5F0-4F4F-A723-DFEAF42A60CA}"/>
              </a:ext>
            </a:extLst>
          </p:cNvPr>
          <p:cNvSpPr>
            <a:spLocks noGrp="1"/>
          </p:cNvSpPr>
          <p:nvPr/>
        </p:nvSpPr>
        <p:spPr>
          <a:xfrm>
            <a:off x="4771034" y="232410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DFB5DA7-E819-4C7A-B7F9-4A86660FE271}"/>
              </a:ext>
            </a:extLst>
          </p:cNvPr>
          <p:cNvSpPr>
            <a:spLocks noGrp="1"/>
          </p:cNvSpPr>
          <p:nvPr/>
        </p:nvSpPr>
        <p:spPr>
          <a:xfrm>
            <a:off x="4771034" y="228681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7F613B-8243-49D9-BDAE-3066DB22BA59}"/>
              </a:ext>
            </a:extLst>
          </p:cNvPr>
          <p:cNvSpPr>
            <a:spLocks noGrp="1"/>
          </p:cNvSpPr>
          <p:nvPr/>
        </p:nvSpPr>
        <p:spPr>
          <a:xfrm>
            <a:off x="4972050" y="2019300"/>
            <a:ext cx="1752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8F7B46-6803-4288-9CFA-FF66B53689BE}"/>
              </a:ext>
            </a:extLst>
          </p:cNvPr>
          <p:cNvSpPr>
            <a:spLocks noGrp="1"/>
          </p:cNvSpPr>
          <p:nvPr/>
        </p:nvSpPr>
        <p:spPr>
          <a:xfrm>
            <a:off x="5086350" y="22383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SLA check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FB68868F-FF5C-4B21-B5D9-8F1A9B9A979C}"/>
              </a:ext>
            </a:extLst>
          </p:cNvPr>
          <p:cNvSpPr>
            <a:spLocks noGrp="1"/>
          </p:cNvSpPr>
          <p:nvPr/>
        </p:nvSpPr>
        <p:spPr>
          <a:xfrm>
            <a:off x="6724650" y="2324100"/>
            <a:ext cx="2667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DF8E2D1C-DB54-475C-B8A6-2E43943A5C2D}"/>
              </a:ext>
            </a:extLst>
          </p:cNvPr>
          <p:cNvSpPr>
            <a:spLocks noGrp="1"/>
          </p:cNvSpPr>
          <p:nvPr/>
        </p:nvSpPr>
        <p:spPr>
          <a:xfrm>
            <a:off x="6914159" y="232410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0B22CD15-D863-41EE-B562-EBC6297C50B6}"/>
              </a:ext>
            </a:extLst>
          </p:cNvPr>
          <p:cNvSpPr>
            <a:spLocks noGrp="1"/>
          </p:cNvSpPr>
          <p:nvPr/>
        </p:nvSpPr>
        <p:spPr>
          <a:xfrm>
            <a:off x="6914159" y="228681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B2270D-0B04-4D79-B46C-3BEF73A768B8}"/>
              </a:ext>
            </a:extLst>
          </p:cNvPr>
          <p:cNvSpPr>
            <a:spLocks noGrp="1"/>
          </p:cNvSpPr>
          <p:nvPr/>
        </p:nvSpPr>
        <p:spPr>
          <a:xfrm>
            <a:off x="7115175" y="2019300"/>
            <a:ext cx="1752600" cy="619125"/>
          </a:xfrm>
          <a:prstGeom prst="rect">
            <a:avLst/>
          </a:prstGeom>
          <a:solidFill>
            <a:srgbClr val="FBE9E8"/>
          </a:solidFill>
          <a:ln w="9525">
            <a:solidFill>
              <a:srgbClr val="B5474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190DD7-1978-4CE6-9051-7FF1F84CA099}"/>
              </a:ext>
            </a:extLst>
          </p:cNvPr>
          <p:cNvSpPr>
            <a:spLocks noGrp="1"/>
          </p:cNvSpPr>
          <p:nvPr/>
        </p:nvSpPr>
        <p:spPr>
          <a:xfrm>
            <a:off x="7229475" y="22383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Normal / warning / critical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F110C7B-A24B-4D2E-B0F6-768A3AD7202B}"/>
              </a:ext>
            </a:extLst>
          </p:cNvPr>
          <p:cNvSpPr>
            <a:spLocks noGrp="1"/>
          </p:cNvSpPr>
          <p:nvPr/>
        </p:nvSpPr>
        <p:spPr>
          <a:xfrm>
            <a:off x="8867775" y="2324100"/>
            <a:ext cx="266700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91BD5C85-5497-4BB0-B4BB-6E2E9911A38B}"/>
              </a:ext>
            </a:extLst>
          </p:cNvPr>
          <p:cNvSpPr>
            <a:spLocks noGrp="1"/>
          </p:cNvSpPr>
          <p:nvPr/>
        </p:nvSpPr>
        <p:spPr>
          <a:xfrm>
            <a:off x="9057284" y="232410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77AF91BC-3FDC-497D-AF0F-EFD87FB868F1}"/>
              </a:ext>
            </a:extLst>
          </p:cNvPr>
          <p:cNvSpPr>
            <a:spLocks noGrp="1"/>
          </p:cNvSpPr>
          <p:nvPr/>
        </p:nvSpPr>
        <p:spPr>
          <a:xfrm>
            <a:off x="9057284" y="228681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2F6967-8CD4-4653-80A6-310BB46D1192}"/>
              </a:ext>
            </a:extLst>
          </p:cNvPr>
          <p:cNvSpPr>
            <a:spLocks noGrp="1"/>
          </p:cNvSpPr>
          <p:nvPr/>
        </p:nvSpPr>
        <p:spPr>
          <a:xfrm>
            <a:off x="9258300" y="2019300"/>
            <a:ext cx="17526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97E191-4EA7-415C-8A1D-782B6E8E0043}"/>
              </a:ext>
            </a:extLst>
          </p:cNvPr>
          <p:cNvSpPr>
            <a:spLocks noGrp="1"/>
          </p:cNvSpPr>
          <p:nvPr/>
        </p:nvSpPr>
        <p:spPr>
          <a:xfrm>
            <a:off x="9372600" y="22383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Alert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6F1740-11E8-4621-8260-1A51ABECE3A0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953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049626" y="3314700"/>
            <a:ext cx="2225347" cy="16764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FE17A3A-C11C-4620-AA95-87AE96716682}"/>
              </a:ext>
            </a:extLst>
          </p:cNvPr>
          <p:cNvSpPr>
            <a:spLocks noGrp="1"/>
          </p:cNvSpPr>
          <p:nvPr/>
        </p:nvSpPr>
        <p:spPr>
          <a:xfrm>
            <a:off x="6076950" y="3143250"/>
            <a:ext cx="5143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pic>
        <p:nvPicPr>
          <p:cNvPr id="73" name="Picture 7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47832" y="3314700"/>
            <a:ext cx="1611086" cy="1524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AF46E95-5B07-486B-8D57-12F11E2C80CC}"/>
              </a:ext>
            </a:extLst>
          </p:cNvPr>
          <p:cNvSpPr>
            <a:spLocks noGrp="1"/>
          </p:cNvSpPr>
          <p:nvPr/>
        </p:nvSpPr>
        <p:spPr>
          <a:xfrm>
            <a:off x="9067800" y="35242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Prototype boundary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ABDF97-E33C-4E37-9525-900DF780E9F7}"/>
              </a:ext>
            </a:extLst>
          </p:cNvPr>
          <p:cNvSpPr>
            <a:spLocks noGrp="1"/>
          </p:cNvSpPr>
          <p:nvPr/>
        </p:nvSpPr>
        <p:spPr>
          <a:xfrm>
            <a:off x="9067800" y="3848100"/>
            <a:ext cx="1809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202B38"/>
                </a:solidFill>
              </a:defRPr>
            </a:pPr>
            <a:r>
              <a:rPr sz="1050" b="0">
                <a:solidFill>
                  <a:srgbClr val="202B38"/>
                </a:solidFill>
              </a:rPr>
              <a:t>Voice alerts operate within the Jupyter monitoring environment; broader notifications were future scope.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F2A672-9AE1-4599-90D7-7CEB913E3C95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Validation evidence: update delay &gt; 2 minutes -&gt; voice alert generated (PASS).</a:t>
            </a:r>
          </a:p>
        </p:txBody>
      </p:sp>
    </p:spTree>
    <p:extLst>
      <p:ext uri="{BB962C8B-B14F-4D97-AF65-F5344CB8AC3E}">
        <p14:creationId xmlns:p14="http://schemas.microsoft.com/office/powerpoint/2010/main" val="1503854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209141EC-BFC0-4F25-AFD2-D1248DFBD83F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CDC4BA-1469-4CBC-AED3-EBC2F1AFADEE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SOLUTION 4</a:t>
            </a: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66" name="Picture 6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A68CBD-92A3-4791-9587-16B39B2860D9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CC35EB-7EDF-4047-8B78-76C7687E363C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78FD94-C8FB-4A46-B13E-0E06097A4313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framework converted fragmented monitoring into an exception-driven operational intelligence workflow.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327126-534B-45CD-BA8A-1DF7407B209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Six implemented modules connect a live collaborative data layer to team-level action.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984A654-DFB5-4545-857D-247C76B3FC7D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5AC900-51E5-4A93-8CBA-747E7A1071D8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1857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41CA8D-AA13-4444-A2AA-8F77B4264C2E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1628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ECI updates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0D5F266-1CC5-478A-A95F-CECCE55663ED}"/>
              </a:ext>
            </a:extLst>
          </p:cNvPr>
          <p:cNvSpPr>
            <a:spLocks noGrp="1"/>
          </p:cNvSpPr>
          <p:nvPr/>
        </p:nvSpPr>
        <p:spPr>
          <a:xfrm>
            <a:off x="2543175" y="2324100"/>
            <a:ext cx="3905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2B8A213-8EC2-434C-9975-FDB2BDC57C5B}"/>
              </a:ext>
            </a:extLst>
          </p:cNvPr>
          <p:cNvSpPr>
            <a:spLocks noGrp="1"/>
          </p:cNvSpPr>
          <p:nvPr/>
        </p:nvSpPr>
        <p:spPr>
          <a:xfrm>
            <a:off x="2856509" y="232410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498DDDE-61A5-4581-B2B2-379BD1959794}"/>
              </a:ext>
            </a:extLst>
          </p:cNvPr>
          <p:cNvSpPr>
            <a:spLocks noGrp="1"/>
          </p:cNvSpPr>
          <p:nvPr/>
        </p:nvSpPr>
        <p:spPr>
          <a:xfrm>
            <a:off x="2856509" y="228681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9DFC0-C60A-4872-990F-5FFB352BBB0A}"/>
              </a:ext>
            </a:extLst>
          </p:cNvPr>
          <p:cNvSpPr>
            <a:spLocks noGrp="1"/>
          </p:cNvSpPr>
          <p:nvPr/>
        </p:nvSpPr>
        <p:spPr>
          <a:xfrm>
            <a:off x="3048000" y="2047875"/>
            <a:ext cx="1857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ADCF99-5DA4-4E1A-AC6F-25734D3CA620}"/>
              </a:ext>
            </a:extLst>
          </p:cNvPr>
          <p:cNvSpPr>
            <a:spLocks noGrp="1"/>
          </p:cNvSpPr>
          <p:nvPr/>
        </p:nvSpPr>
        <p:spPr>
          <a:xfrm>
            <a:off x="3162300" y="2238375"/>
            <a:ext cx="1628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Research Associate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3E014E1-3850-4A5B-891A-A69DEFF2516F}"/>
              </a:ext>
            </a:extLst>
          </p:cNvPr>
          <p:cNvSpPr>
            <a:spLocks noGrp="1"/>
          </p:cNvSpPr>
          <p:nvPr/>
        </p:nvSpPr>
        <p:spPr>
          <a:xfrm>
            <a:off x="4905375" y="2324100"/>
            <a:ext cx="390525" cy="0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CC603F3-DF60-4F49-A03E-C0D12F5E9E87}"/>
              </a:ext>
            </a:extLst>
          </p:cNvPr>
          <p:cNvSpPr>
            <a:spLocks noGrp="1"/>
          </p:cNvSpPr>
          <p:nvPr/>
        </p:nvSpPr>
        <p:spPr>
          <a:xfrm>
            <a:off x="5218709" y="2324100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6186025E-CFAB-4E46-9B00-8F4781B9DCDD}"/>
              </a:ext>
            </a:extLst>
          </p:cNvPr>
          <p:cNvSpPr>
            <a:spLocks noGrp="1"/>
          </p:cNvSpPr>
          <p:nvPr/>
        </p:nvSpPr>
        <p:spPr>
          <a:xfrm>
            <a:off x="5218709" y="2286813"/>
            <a:ext cx="77191" cy="37287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A6710B-BC7E-4D29-9534-7CC0B03A7B58}"/>
              </a:ext>
            </a:extLst>
          </p:cNvPr>
          <p:cNvSpPr>
            <a:spLocks noGrp="1"/>
          </p:cNvSpPr>
          <p:nvPr/>
        </p:nvSpPr>
        <p:spPr>
          <a:xfrm>
            <a:off x="5410200" y="2047875"/>
            <a:ext cx="1857375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23E2CE-D0B9-4821-9E0A-5B228FE74A4F}"/>
              </a:ext>
            </a:extLst>
          </p:cNvPr>
          <p:cNvSpPr>
            <a:spLocks noGrp="1"/>
          </p:cNvSpPr>
          <p:nvPr/>
        </p:nvSpPr>
        <p:spPr>
          <a:xfrm>
            <a:off x="5524500" y="2238375"/>
            <a:ext cx="16287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Google Sheet synchronization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B3A2D9B-2DF1-4160-A525-D6606C88E46B}"/>
              </a:ext>
            </a:extLst>
          </p:cNvPr>
          <p:cNvSpPr>
            <a:spLocks noGrp="1"/>
          </p:cNvSpPr>
          <p:nvPr/>
        </p:nvSpPr>
        <p:spPr>
          <a:xfrm>
            <a:off x="6334125" y="2600325"/>
            <a:ext cx="0" cy="466725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F1A37E17-AA8B-460E-B8CB-D5033A2AF4B7}"/>
              </a:ext>
            </a:extLst>
          </p:cNvPr>
          <p:cNvSpPr>
            <a:spLocks noGrp="1"/>
          </p:cNvSpPr>
          <p:nvPr/>
        </p:nvSpPr>
        <p:spPr>
          <a:xfrm>
            <a:off x="6296838" y="298985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FA045FC-5A8E-4617-BA7C-AA7634561E83}"/>
              </a:ext>
            </a:extLst>
          </p:cNvPr>
          <p:cNvSpPr>
            <a:spLocks noGrp="1"/>
          </p:cNvSpPr>
          <p:nvPr/>
        </p:nvSpPr>
        <p:spPr>
          <a:xfrm>
            <a:off x="6334125" y="298985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587A9F-57FF-4C61-8B80-56BEA1336551}"/>
              </a:ext>
            </a:extLst>
          </p:cNvPr>
          <p:cNvSpPr>
            <a:spLocks noGrp="1"/>
          </p:cNvSpPr>
          <p:nvPr/>
        </p:nvSpPr>
        <p:spPr>
          <a:xfrm>
            <a:off x="4333875" y="3067050"/>
            <a:ext cx="4000500" cy="571500"/>
          </a:xfrm>
          <a:prstGeom prst="rect">
            <a:avLst/>
          </a:prstGeom>
          <a:solidFill>
            <a:srgbClr val="EAF1F6"/>
          </a:solidFill>
          <a:ln w="9525">
            <a:solidFill>
              <a:srgbClr val="4E7FA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3BA870-9DDA-403F-932D-64AF36B26111}"/>
              </a:ext>
            </a:extLst>
          </p:cNvPr>
          <p:cNvSpPr>
            <a:spLocks noGrp="1"/>
          </p:cNvSpPr>
          <p:nvPr/>
        </p:nvSpPr>
        <p:spPr>
          <a:xfrm>
            <a:off x="4524375" y="32575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Rule-based operational intelligence layer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C89F08A7-9A9F-48EB-A423-9720404C4D6A}"/>
              </a:ext>
            </a:extLst>
          </p:cNvPr>
          <p:cNvSpPr>
            <a:spLocks noGrp="1"/>
          </p:cNvSpPr>
          <p:nvPr/>
        </p:nvSpPr>
        <p:spPr>
          <a:xfrm>
            <a:off x="1447800" y="3638550"/>
            <a:ext cx="4886325" cy="38100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B27F3EA6-8B80-4A68-A763-7D88C0D9EDEB}"/>
              </a:ext>
            </a:extLst>
          </p:cNvPr>
          <p:cNvSpPr>
            <a:spLocks noGrp="1"/>
          </p:cNvSpPr>
          <p:nvPr/>
        </p:nvSpPr>
        <p:spPr>
          <a:xfrm>
            <a:off x="1447800" y="3976375"/>
            <a:ext cx="74059" cy="43175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E75EC70A-6296-4A60-A49A-BA84BD8AE5A4}"/>
              </a:ext>
            </a:extLst>
          </p:cNvPr>
          <p:cNvSpPr>
            <a:spLocks noGrp="1"/>
          </p:cNvSpPr>
          <p:nvPr/>
        </p:nvSpPr>
        <p:spPr>
          <a:xfrm>
            <a:off x="1447800" y="4019550"/>
            <a:ext cx="79856" cy="31174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2D9CCF-FB35-46DA-AD17-6CAD2BE1AF9F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524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FE74D8-12CF-4D32-AA4E-D4F1BCA83A8C}"/>
              </a:ext>
            </a:extLst>
          </p:cNvPr>
          <p:cNvSpPr>
            <a:spLocks noGrp="1"/>
          </p:cNvSpPr>
          <p:nvPr/>
        </p:nvSpPr>
        <p:spPr>
          <a:xfrm>
            <a:off x="781050" y="419100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Election GPT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315F5B9B-EEE1-4695-BE98-21C602FA0449}"/>
              </a:ext>
            </a:extLst>
          </p:cNvPr>
          <p:cNvSpPr>
            <a:spLocks noGrp="1"/>
          </p:cNvSpPr>
          <p:nvPr/>
        </p:nvSpPr>
        <p:spPr>
          <a:xfrm>
            <a:off x="3257550" y="3638550"/>
            <a:ext cx="3076575" cy="38100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F7939D10-D05B-4EE8-BA81-EE228DCBAD05}"/>
              </a:ext>
            </a:extLst>
          </p:cNvPr>
          <p:cNvSpPr>
            <a:spLocks noGrp="1"/>
          </p:cNvSpPr>
          <p:nvPr/>
        </p:nvSpPr>
        <p:spPr>
          <a:xfrm>
            <a:off x="3257550" y="3973058"/>
            <a:ext cx="72023" cy="46492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9E43B061-FB0D-4C3F-B310-4D6A77E09E6A}"/>
              </a:ext>
            </a:extLst>
          </p:cNvPr>
          <p:cNvSpPr>
            <a:spLocks noGrp="1"/>
          </p:cNvSpPr>
          <p:nvPr/>
        </p:nvSpPr>
        <p:spPr>
          <a:xfrm>
            <a:off x="3257550" y="4019550"/>
            <a:ext cx="81188" cy="2751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15C7E8F-9620-42B5-9EF1-0312C0B9DC40}"/>
              </a:ext>
            </a:extLst>
          </p:cNvPr>
          <p:cNvSpPr>
            <a:spLocks noGrp="1"/>
          </p:cNvSpPr>
          <p:nvPr/>
        </p:nvSpPr>
        <p:spPr>
          <a:xfrm>
            <a:off x="2495550" y="4019550"/>
            <a:ext cx="1524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54CF60-6D45-4C29-AB72-2E8530D61146}"/>
              </a:ext>
            </a:extLst>
          </p:cNvPr>
          <p:cNvSpPr>
            <a:spLocks noGrp="1"/>
          </p:cNvSpPr>
          <p:nvPr/>
        </p:nvSpPr>
        <p:spPr>
          <a:xfrm>
            <a:off x="2590800" y="419100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Live Monitoring</a:t>
            </a:r>
          </a:p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Dashboard</a:t>
            </a: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931720FD-9B42-4EC1-87CE-E8C5517A5A5F}"/>
              </a:ext>
            </a:extLst>
          </p:cNvPr>
          <p:cNvSpPr>
            <a:spLocks noGrp="1"/>
          </p:cNvSpPr>
          <p:nvPr/>
        </p:nvSpPr>
        <p:spPr>
          <a:xfrm>
            <a:off x="5067300" y="3638550"/>
            <a:ext cx="1266825" cy="38100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7CB72E8E-FA00-459B-9EAC-E4CB3DF453B4}"/>
              </a:ext>
            </a:extLst>
          </p:cNvPr>
          <p:cNvSpPr>
            <a:spLocks noGrp="1"/>
          </p:cNvSpPr>
          <p:nvPr/>
        </p:nvSpPr>
        <p:spPr>
          <a:xfrm>
            <a:off x="5067300" y="3961611"/>
            <a:ext cx="63181" cy="57939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196FD688-7720-4F3F-81F9-5D0AD4E4ABC6}"/>
              </a:ext>
            </a:extLst>
          </p:cNvPr>
          <p:cNvSpPr>
            <a:spLocks noGrp="1"/>
          </p:cNvSpPr>
          <p:nvPr/>
        </p:nvSpPr>
        <p:spPr>
          <a:xfrm>
            <a:off x="5067300" y="4019550"/>
            <a:ext cx="84659" cy="13476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D05171-8570-43AC-863D-C022D03B828D}"/>
              </a:ext>
            </a:extLst>
          </p:cNvPr>
          <p:cNvSpPr>
            <a:spLocks noGrp="1"/>
          </p:cNvSpPr>
          <p:nvPr/>
        </p:nvSpPr>
        <p:spPr>
          <a:xfrm>
            <a:off x="4305300" y="4019550"/>
            <a:ext cx="1524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AAF645-1E2C-4E0F-A0A4-46837E495368}"/>
              </a:ext>
            </a:extLst>
          </p:cNvPr>
          <p:cNvSpPr>
            <a:spLocks noGrp="1"/>
          </p:cNvSpPr>
          <p:nvPr/>
        </p:nvSpPr>
        <p:spPr>
          <a:xfrm>
            <a:off x="4400550" y="419100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Goal Meter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A50C2ACE-9635-4D24-A295-4B87E80D8B6B}"/>
              </a:ext>
            </a:extLst>
          </p:cNvPr>
          <p:cNvSpPr>
            <a:spLocks noGrp="1"/>
          </p:cNvSpPr>
          <p:nvPr/>
        </p:nvSpPr>
        <p:spPr>
          <a:xfrm>
            <a:off x="6334125" y="3638550"/>
            <a:ext cx="542925" cy="38100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DA5C9F4E-42A6-40C5-BCD8-3F23271BCC5B}"/>
              </a:ext>
            </a:extLst>
          </p:cNvPr>
          <p:cNvSpPr>
            <a:spLocks noGrp="1"/>
          </p:cNvSpPr>
          <p:nvPr/>
        </p:nvSpPr>
        <p:spPr>
          <a:xfrm>
            <a:off x="6792446" y="4005731"/>
            <a:ext cx="84604" cy="13819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D03386E3-09DC-4613-BA90-3965A0301C17}"/>
              </a:ext>
            </a:extLst>
          </p:cNvPr>
          <p:cNvSpPr>
            <a:spLocks noGrp="1"/>
          </p:cNvSpPr>
          <p:nvPr/>
        </p:nvSpPr>
        <p:spPr>
          <a:xfrm>
            <a:off x="6835284" y="3944688"/>
            <a:ext cx="41766" cy="74862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C37DD7-F831-406E-BFA6-DB5A23E4AEAE}"/>
              </a:ext>
            </a:extLst>
          </p:cNvPr>
          <p:cNvSpPr>
            <a:spLocks noGrp="1"/>
          </p:cNvSpPr>
          <p:nvPr/>
        </p:nvSpPr>
        <p:spPr>
          <a:xfrm>
            <a:off x="6115050" y="4019550"/>
            <a:ext cx="1524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96937B-9611-4893-AB18-9F0B636DC004}"/>
              </a:ext>
            </a:extLst>
          </p:cNvPr>
          <p:cNvSpPr>
            <a:spLocks noGrp="1"/>
          </p:cNvSpPr>
          <p:nvPr/>
        </p:nvSpPr>
        <p:spPr>
          <a:xfrm>
            <a:off x="6210300" y="419100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Missing Round</a:t>
            </a:r>
          </a:p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Detection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EF7A0657-95A6-4E08-9BD3-4DEE29F6B400}"/>
              </a:ext>
            </a:extLst>
          </p:cNvPr>
          <p:cNvSpPr>
            <a:spLocks noGrp="1"/>
          </p:cNvSpPr>
          <p:nvPr/>
        </p:nvSpPr>
        <p:spPr>
          <a:xfrm>
            <a:off x="6334125" y="3638550"/>
            <a:ext cx="2352675" cy="38100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52B8A7B6-A483-4DF1-A555-CB91AF90ED7A}"/>
              </a:ext>
            </a:extLst>
          </p:cNvPr>
          <p:cNvSpPr>
            <a:spLocks noGrp="1"/>
          </p:cNvSpPr>
          <p:nvPr/>
        </p:nvSpPr>
        <p:spPr>
          <a:xfrm>
            <a:off x="8604641" y="4019550"/>
            <a:ext cx="82159" cy="2446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2616D985-9376-40BD-9BBE-3FFE38F8354C}"/>
              </a:ext>
            </a:extLst>
          </p:cNvPr>
          <p:cNvSpPr>
            <a:spLocks noGrp="1"/>
          </p:cNvSpPr>
          <p:nvPr/>
        </p:nvSpPr>
        <p:spPr>
          <a:xfrm>
            <a:off x="8616563" y="3970402"/>
            <a:ext cx="70237" cy="4914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C20523-4EE1-4B51-B48E-40FB284997E5}"/>
              </a:ext>
            </a:extLst>
          </p:cNvPr>
          <p:cNvSpPr>
            <a:spLocks noGrp="1"/>
          </p:cNvSpPr>
          <p:nvPr/>
        </p:nvSpPr>
        <p:spPr>
          <a:xfrm>
            <a:off x="7924800" y="4019550"/>
            <a:ext cx="1524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AC7184-C868-4A10-BC15-0F24359E79DF}"/>
              </a:ext>
            </a:extLst>
          </p:cNvPr>
          <p:cNvSpPr>
            <a:spLocks noGrp="1"/>
          </p:cNvSpPr>
          <p:nvPr/>
        </p:nvSpPr>
        <p:spPr>
          <a:xfrm>
            <a:off x="8020050" y="419100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SLA Monitoring</a:t>
            </a:r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7587634A-EB0B-4235-B74B-6C0B812A3B67}"/>
              </a:ext>
            </a:extLst>
          </p:cNvPr>
          <p:cNvSpPr>
            <a:spLocks noGrp="1"/>
          </p:cNvSpPr>
          <p:nvPr/>
        </p:nvSpPr>
        <p:spPr>
          <a:xfrm>
            <a:off x="6334125" y="3638550"/>
            <a:ext cx="4162425" cy="381000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C4AC0872-4600-489C-B96B-913716372B7A}"/>
              </a:ext>
            </a:extLst>
          </p:cNvPr>
          <p:cNvSpPr>
            <a:spLocks noGrp="1"/>
          </p:cNvSpPr>
          <p:nvPr/>
        </p:nvSpPr>
        <p:spPr>
          <a:xfrm>
            <a:off x="10416282" y="4019550"/>
            <a:ext cx="80268" cy="30096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AB539FD0-4C4F-4C9E-B944-C512D12EB086}"/>
              </a:ext>
            </a:extLst>
          </p:cNvPr>
          <p:cNvSpPr>
            <a:spLocks noGrp="1"/>
          </p:cNvSpPr>
          <p:nvPr/>
        </p:nvSpPr>
        <p:spPr>
          <a:xfrm>
            <a:off x="10423079" y="3975382"/>
            <a:ext cx="73471" cy="44168"/>
          </a:xfrm>
          <a:prstGeom prst="line">
            <a:avLst/>
          </a:prstGeom>
          <a:ln w="19050">
            <a:solidFill>
              <a:srgbClr val="D7DEE5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5F01FC4-F500-4E0A-B1E7-7DD6DF9A4147}"/>
              </a:ext>
            </a:extLst>
          </p:cNvPr>
          <p:cNvSpPr>
            <a:spLocks noGrp="1"/>
          </p:cNvSpPr>
          <p:nvPr/>
        </p:nvSpPr>
        <p:spPr>
          <a:xfrm>
            <a:off x="9734550" y="4019550"/>
            <a:ext cx="1524000" cy="619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380FBF4-0741-4735-845B-22B919104F40}"/>
              </a:ext>
            </a:extLst>
          </p:cNvPr>
          <p:cNvSpPr>
            <a:spLocks noGrp="1"/>
          </p:cNvSpPr>
          <p:nvPr/>
        </p:nvSpPr>
        <p:spPr>
          <a:xfrm>
            <a:off x="9829800" y="4191000"/>
            <a:ext cx="1333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Voice Alert</a:t>
            </a:r>
          </a:p>
          <a:p>
            <a:pPr algn="ctr"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System</a:t>
            </a:r>
          </a:p>
        </p:txBody>
      </p:sp>
      <p:sp>
        <p:nvSpPr>
          <p:cNvPr id="57" name="Straight Connector 56">
            <a:extLst>
              <a:ext uri="{FF2B5EF4-FFF2-40B4-BE49-F238E27FC236}">
                <a16:creationId xmlns:a16="http://schemas.microsoft.com/office/drawing/2014/main" id="{519950EB-F34C-48F1-85E5-1ABE044BE9E7}"/>
              </a:ext>
            </a:extLst>
          </p:cNvPr>
          <p:cNvSpPr>
            <a:spLocks noGrp="1"/>
          </p:cNvSpPr>
          <p:nvPr/>
        </p:nvSpPr>
        <p:spPr>
          <a:xfrm>
            <a:off x="6334125" y="4638675"/>
            <a:ext cx="0" cy="523875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58" name="Straight Connector 57">
            <a:extLst>
              <a:ext uri="{FF2B5EF4-FFF2-40B4-BE49-F238E27FC236}">
                <a16:creationId xmlns:a16="http://schemas.microsoft.com/office/drawing/2014/main" id="{4292F70D-AEEA-44C3-B8F9-FFC3875ED0C5}"/>
              </a:ext>
            </a:extLst>
          </p:cNvPr>
          <p:cNvSpPr>
            <a:spLocks noGrp="1"/>
          </p:cNvSpPr>
          <p:nvPr/>
        </p:nvSpPr>
        <p:spPr>
          <a:xfrm>
            <a:off x="6296838" y="508535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59" name="Straight Connector 58">
            <a:extLst>
              <a:ext uri="{FF2B5EF4-FFF2-40B4-BE49-F238E27FC236}">
                <a16:creationId xmlns:a16="http://schemas.microsoft.com/office/drawing/2014/main" id="{8EEC1EBA-3F82-4D1C-801D-B4D14F6FBAD8}"/>
              </a:ext>
            </a:extLst>
          </p:cNvPr>
          <p:cNvSpPr>
            <a:spLocks noGrp="1"/>
          </p:cNvSpPr>
          <p:nvPr/>
        </p:nvSpPr>
        <p:spPr>
          <a:xfrm>
            <a:off x="6334125" y="5085359"/>
            <a:ext cx="37287" cy="77191"/>
          </a:xfrm>
          <a:prstGeom prst="line">
            <a:avLst/>
          </a:prstGeom>
          <a:ln w="19050">
            <a:solidFill>
              <a:srgbClr val="4E7FA8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F9B3F7-024E-4FD4-AA8B-4A32C60D0AC2}"/>
              </a:ext>
            </a:extLst>
          </p:cNvPr>
          <p:cNvSpPr>
            <a:spLocks noGrp="1"/>
          </p:cNvSpPr>
          <p:nvPr/>
        </p:nvSpPr>
        <p:spPr>
          <a:xfrm>
            <a:off x="4143375" y="5162550"/>
            <a:ext cx="4381500" cy="5524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6E42756-45FF-43FE-A690-CD7F487B2196}"/>
              </a:ext>
            </a:extLst>
          </p:cNvPr>
          <p:cNvSpPr>
            <a:spLocks noGrp="1"/>
          </p:cNvSpPr>
          <p:nvPr/>
        </p:nvSpPr>
        <p:spPr>
          <a:xfrm>
            <a:off x="4333875" y="534352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Team Leader action: prioritize, coordinate, resolve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72E797B-91F4-494A-B73D-5535AAA746F3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D6B78"/>
                </a:solidFill>
              </a:defRPr>
            </a:pPr>
            <a:r>
              <a:rPr sz="900" b="0">
                <a:solidFill>
                  <a:srgbClr val="5D6B78"/>
                </a:solidFill>
              </a:rPr>
              <a:t>Implementation evidence: six modules were demonstrated to the Corporate Mentor (Level 1 - Demonstrated in Context).</a:t>
            </a:r>
          </a:p>
        </p:txBody>
      </p:sp>
    </p:spTree>
    <p:extLst>
      <p:ext uri="{BB962C8B-B14F-4D97-AF65-F5344CB8AC3E}">
        <p14:creationId xmlns:p14="http://schemas.microsoft.com/office/powerpoint/2010/main" val="1690416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81E01C11-9874-4ADD-981D-C8FA9F5DC96E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C2A8A0-1F88-498F-8FCD-B5726B9DB76E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FEEDBACK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652320-8CF3-4841-AE4A-5F23D3F9F370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646B9-8363-45EF-B5A4-1FC58C37A486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B41E5A-2223-4448-BD22-A6B71C686564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Corporate-Mentor feedback validated the dashboard’s visibility and exception-management value.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EFBAE2-3636-4F7E-98A8-B5075AC920BD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The report records a demonstrated-in-context prototype, not confirmed team-level or organizational adoption.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315E810-8A43-4B9D-8E80-E93648C2EAB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D96818-E7AF-41F9-B55B-E55D4F877239}"/>
              </a:ext>
            </a:extLst>
          </p:cNvPr>
          <p:cNvSpPr>
            <a:spLocks noGrp="1"/>
          </p:cNvSpPr>
          <p:nvPr/>
        </p:nvSpPr>
        <p:spPr>
          <a:xfrm>
            <a:off x="501445" y="2114549"/>
            <a:ext cx="5958349" cy="4060109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64D14-BE29-4DF6-BFE6-BF8D77CD9803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4619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endParaRPr sz="1800" b="1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F71C74-D768-41E7-AB70-83792F7860D7}"/>
              </a:ext>
            </a:extLst>
          </p:cNvPr>
          <p:cNvSpPr>
            <a:spLocks noGrp="1"/>
          </p:cNvSpPr>
          <p:nvPr/>
        </p:nvSpPr>
        <p:spPr>
          <a:xfrm>
            <a:off x="1028700" y="3543300"/>
            <a:ext cx="4619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DCE8F1"/>
                </a:solidFill>
              </a:defRPr>
            </a:pPr>
            <a:endParaRPr sz="900" b="0" dirty="0">
              <a:solidFill>
                <a:srgbClr val="DCE8F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509AB-BDBD-4C05-876B-BE1E1AC566DA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45720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E104A9-DA08-44E9-B92E-3530F8EE9358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47625" cy="904875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C9E0EB-B776-41F4-A79A-94F57022B9E8}"/>
              </a:ext>
            </a:extLst>
          </p:cNvPr>
          <p:cNvSpPr>
            <a:spLocks noGrp="1"/>
          </p:cNvSpPr>
          <p:nvPr/>
        </p:nvSpPr>
        <p:spPr>
          <a:xfrm>
            <a:off x="6838950" y="2200275"/>
            <a:ext cx="428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it validated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41C8AD-A966-4C17-AD46-0FBDBBD4D095}"/>
              </a:ext>
            </a:extLst>
          </p:cNvPr>
          <p:cNvSpPr>
            <a:spLocks noGrp="1"/>
          </p:cNvSpPr>
          <p:nvPr/>
        </p:nvSpPr>
        <p:spPr>
          <a:xfrm>
            <a:off x="6838950" y="2505075"/>
            <a:ext cx="4286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Centralized visibility, automated repetitive monitoring and faster exception identification.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792B35-0F0F-4F30-A012-C8BE26786DE6}"/>
              </a:ext>
            </a:extLst>
          </p:cNvPr>
          <p:cNvSpPr>
            <a:spLocks noGrp="1"/>
          </p:cNvSpPr>
          <p:nvPr/>
        </p:nvSpPr>
        <p:spPr>
          <a:xfrm>
            <a:off x="6667500" y="3171825"/>
            <a:ext cx="45720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F140DA-7E75-4EE0-BD54-EE62D8C69354}"/>
              </a:ext>
            </a:extLst>
          </p:cNvPr>
          <p:cNvSpPr>
            <a:spLocks noGrp="1"/>
          </p:cNvSpPr>
          <p:nvPr/>
        </p:nvSpPr>
        <p:spPr>
          <a:xfrm>
            <a:off x="6667500" y="3171825"/>
            <a:ext cx="47625" cy="904875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F253E3-8D02-4A81-956C-1D0D4BC95897}"/>
              </a:ext>
            </a:extLst>
          </p:cNvPr>
          <p:cNvSpPr>
            <a:spLocks noGrp="1"/>
          </p:cNvSpPr>
          <p:nvPr/>
        </p:nvSpPr>
        <p:spPr>
          <a:xfrm>
            <a:off x="6838950" y="3324225"/>
            <a:ext cx="428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I improved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6718F3-6D74-41D4-828F-DEC2C61AC68C}"/>
              </a:ext>
            </a:extLst>
          </p:cNvPr>
          <p:cNvSpPr>
            <a:spLocks noGrp="1"/>
          </p:cNvSpPr>
          <p:nvPr/>
        </p:nvSpPr>
        <p:spPr>
          <a:xfrm>
            <a:off x="6838950" y="3629025"/>
            <a:ext cx="4286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Feedback and suggestions were incorporated into the final presentation quality and documentation.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89C4CD-5C84-4CE3-AB82-B5849C70DFC2}"/>
              </a:ext>
            </a:extLst>
          </p:cNvPr>
          <p:cNvSpPr>
            <a:spLocks noGrp="1"/>
          </p:cNvSpPr>
          <p:nvPr/>
        </p:nvSpPr>
        <p:spPr>
          <a:xfrm>
            <a:off x="6667500" y="4295775"/>
            <a:ext cx="457200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4352A6-9177-412B-AFF9-A5D3777B181D}"/>
              </a:ext>
            </a:extLst>
          </p:cNvPr>
          <p:cNvSpPr>
            <a:spLocks noGrp="1"/>
          </p:cNvSpPr>
          <p:nvPr/>
        </p:nvSpPr>
        <p:spPr>
          <a:xfrm>
            <a:off x="6667500" y="4295775"/>
            <a:ext cx="47625" cy="904875"/>
          </a:xfrm>
          <a:prstGeom prst="rect">
            <a:avLst/>
          </a:prstGeom>
          <a:solidFill>
            <a:srgbClr val="B7791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AF7EC4-6ADA-40B2-9130-3F99541425C7}"/>
              </a:ext>
            </a:extLst>
          </p:cNvPr>
          <p:cNvSpPr>
            <a:spLocks noGrp="1"/>
          </p:cNvSpPr>
          <p:nvPr/>
        </p:nvSpPr>
        <p:spPr>
          <a:xfrm>
            <a:off x="6838950" y="4448175"/>
            <a:ext cx="428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What remained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50EED-0BC7-4C8D-978F-79320A5803DB}"/>
              </a:ext>
            </a:extLst>
          </p:cNvPr>
          <p:cNvSpPr>
            <a:spLocks noGrp="1"/>
          </p:cNvSpPr>
          <p:nvPr/>
        </p:nvSpPr>
        <p:spPr>
          <a:xfrm>
            <a:off x="6838950" y="4752975"/>
            <a:ext cx="4286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D6B78"/>
                </a:solidFill>
              </a:defRPr>
            </a:pPr>
            <a:r>
              <a:rPr sz="975" b="0">
                <a:solidFill>
                  <a:srgbClr val="5D6B78"/>
                </a:solidFill>
              </a:rPr>
              <a:t>Broader implementation would require integration with operational systems and organizational approvals.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F4423-E58D-23D7-B2C9-CEDAB2FCB5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5" y="2821858"/>
            <a:ext cx="5260259" cy="264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05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776E276C-84BD-4CB9-AF0D-587C3E67A30F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F9D220-70B9-413D-BA8B-E61A401198B2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CAPABILITY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29CAAC3-4CAA-44C6-B897-D900CCF8DA70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DC9CA-CFED-4738-88FA-FE0B85FFB363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C45A9C-47DA-42DE-BD9D-0734256337B5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internship developed a balanced capability set across technology, analysis and operations.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4E41F-7C09-4F18-A486-FFB880D471B0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9906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Capabilities below are drawn from the development work and learning outcomes documented in the CIP report.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F624840-30FC-4C6C-9899-83F5B67FF72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24BA0-5183-4884-BB75-497558C1B54A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2385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89E9B-13E0-404E-BD44-051E982E77E4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238500" cy="85725"/>
          </a:xfrm>
          <a:prstGeom prst="rect">
            <a:avLst/>
          </a:prstGeom>
          <a:solidFill>
            <a:srgbClr val="4E7FA8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58935-A2BB-4F6A-9F0E-800C4449B834}"/>
              </a:ext>
            </a:extLst>
          </p:cNvPr>
          <p:cNvSpPr>
            <a:spLocks noGrp="1"/>
          </p:cNvSpPr>
          <p:nvPr/>
        </p:nvSpPr>
        <p:spPr>
          <a:xfrm>
            <a:off x="923925" y="232410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Technical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E50FD04D-310E-4F7A-B8F1-8B473C13B228}"/>
              </a:ext>
            </a:extLst>
          </p:cNvPr>
          <p:cNvSpPr>
            <a:spLocks noGrp="1"/>
          </p:cNvSpPr>
          <p:nvPr/>
        </p:nvSpPr>
        <p:spPr>
          <a:xfrm>
            <a:off x="923925" y="27813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F831B7-65FB-4157-B523-F722173DB633}"/>
              </a:ext>
            </a:extLst>
          </p:cNvPr>
          <p:cNvSpPr>
            <a:spLocks noGrp="1"/>
          </p:cNvSpPr>
          <p:nvPr/>
        </p:nvSpPr>
        <p:spPr>
          <a:xfrm>
            <a:off x="923925" y="2895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Python and Pandas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92F2CC3-6D4C-46AD-80F8-97308FF8416F}"/>
              </a:ext>
            </a:extLst>
          </p:cNvPr>
          <p:cNvSpPr>
            <a:spLocks noGrp="1"/>
          </p:cNvSpPr>
          <p:nvPr/>
        </p:nvSpPr>
        <p:spPr>
          <a:xfrm>
            <a:off x="923925" y="314325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F06A4B-44FB-4C38-8C88-E99991C8E6D5}"/>
              </a:ext>
            </a:extLst>
          </p:cNvPr>
          <p:cNvSpPr>
            <a:spLocks noGrp="1"/>
          </p:cNvSpPr>
          <p:nvPr/>
        </p:nvSpPr>
        <p:spPr>
          <a:xfrm>
            <a:off x="923925" y="32575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Google Sheets integration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81B8E27-6B73-4F10-87B1-2DA935A1B25A}"/>
              </a:ext>
            </a:extLst>
          </p:cNvPr>
          <p:cNvSpPr>
            <a:spLocks noGrp="1"/>
          </p:cNvSpPr>
          <p:nvPr/>
        </p:nvSpPr>
        <p:spPr>
          <a:xfrm>
            <a:off x="923925" y="35052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234BE7-24D9-4F30-BA51-7F4FAE9430DA}"/>
              </a:ext>
            </a:extLst>
          </p:cNvPr>
          <p:cNvSpPr>
            <a:spLocks noGrp="1"/>
          </p:cNvSpPr>
          <p:nvPr/>
        </p:nvSpPr>
        <p:spPr>
          <a:xfrm>
            <a:off x="923925" y="36195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Jupyter-based dashboarding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D588D2C-5697-4F57-BD6B-2B383B1F25EE}"/>
              </a:ext>
            </a:extLst>
          </p:cNvPr>
          <p:cNvSpPr>
            <a:spLocks noGrp="1"/>
          </p:cNvSpPr>
          <p:nvPr/>
        </p:nvSpPr>
        <p:spPr>
          <a:xfrm>
            <a:off x="923925" y="386715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7EEDD0-99B1-4AEE-91F8-975365E2B067}"/>
              </a:ext>
            </a:extLst>
          </p:cNvPr>
          <p:cNvSpPr>
            <a:spLocks noGrp="1"/>
          </p:cNvSpPr>
          <p:nvPr/>
        </p:nvSpPr>
        <p:spPr>
          <a:xfrm>
            <a:off x="923925" y="39814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Rule-based automation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B86B75B-3E82-46D7-83BB-5BFEAF9DBB72}"/>
              </a:ext>
            </a:extLst>
          </p:cNvPr>
          <p:cNvSpPr>
            <a:spLocks noGrp="1"/>
          </p:cNvSpPr>
          <p:nvPr/>
        </p:nvSpPr>
        <p:spPr>
          <a:xfrm>
            <a:off x="923925" y="42291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FB0F8-47BA-4CE8-907E-7143071902DA}"/>
              </a:ext>
            </a:extLst>
          </p:cNvPr>
          <p:cNvSpPr>
            <a:spLocks noGrp="1"/>
          </p:cNvSpPr>
          <p:nvPr/>
        </p:nvSpPr>
        <p:spPr>
          <a:xfrm>
            <a:off x="923925" y="43434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Voice alert generation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1B303C-08B2-4758-BA8B-4FFA16EA5FBC}"/>
              </a:ext>
            </a:extLst>
          </p:cNvPr>
          <p:cNvSpPr>
            <a:spLocks noGrp="1"/>
          </p:cNvSpPr>
          <p:nvPr/>
        </p:nvSpPr>
        <p:spPr>
          <a:xfrm>
            <a:off x="4314825" y="2047875"/>
            <a:ext cx="32385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8045B1-08FE-473F-99FA-2DF53FC52AB0}"/>
              </a:ext>
            </a:extLst>
          </p:cNvPr>
          <p:cNvSpPr>
            <a:spLocks noGrp="1"/>
          </p:cNvSpPr>
          <p:nvPr/>
        </p:nvSpPr>
        <p:spPr>
          <a:xfrm>
            <a:off x="4314825" y="2047875"/>
            <a:ext cx="3238500" cy="85725"/>
          </a:xfrm>
          <a:prstGeom prst="rect">
            <a:avLst/>
          </a:prstGeom>
          <a:solidFill>
            <a:srgbClr val="367A5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80D570-20DD-4CD3-89EA-D981FD2039A2}"/>
              </a:ext>
            </a:extLst>
          </p:cNvPr>
          <p:cNvSpPr>
            <a:spLocks noGrp="1"/>
          </p:cNvSpPr>
          <p:nvPr/>
        </p:nvSpPr>
        <p:spPr>
          <a:xfrm>
            <a:off x="4552950" y="232410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Analytical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B3BC80F2-4A58-420C-8C1E-8B402E281548}"/>
              </a:ext>
            </a:extLst>
          </p:cNvPr>
          <p:cNvSpPr>
            <a:spLocks noGrp="1"/>
          </p:cNvSpPr>
          <p:nvPr/>
        </p:nvSpPr>
        <p:spPr>
          <a:xfrm>
            <a:off x="4552950" y="27813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77FABE-5811-4912-9A55-203B44019CC7}"/>
              </a:ext>
            </a:extLst>
          </p:cNvPr>
          <p:cNvSpPr>
            <a:spLocks noGrp="1"/>
          </p:cNvSpPr>
          <p:nvPr/>
        </p:nvSpPr>
        <p:spPr>
          <a:xfrm>
            <a:off x="4552950" y="2895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Process mapping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4FCE226B-154D-456F-B7DB-79D570AC923D}"/>
              </a:ext>
            </a:extLst>
          </p:cNvPr>
          <p:cNvSpPr>
            <a:spLocks noGrp="1"/>
          </p:cNvSpPr>
          <p:nvPr/>
        </p:nvSpPr>
        <p:spPr>
          <a:xfrm>
            <a:off x="4552950" y="314325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89F81C-A56B-47DA-942E-C6B5F88CC013}"/>
              </a:ext>
            </a:extLst>
          </p:cNvPr>
          <p:cNvSpPr>
            <a:spLocks noGrp="1"/>
          </p:cNvSpPr>
          <p:nvPr/>
        </p:nvSpPr>
        <p:spPr>
          <a:xfrm>
            <a:off x="4552950" y="32575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Operational gap analysis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F479F2F-F271-4E28-9061-7EFFE4625398}"/>
              </a:ext>
            </a:extLst>
          </p:cNvPr>
          <p:cNvSpPr>
            <a:spLocks noGrp="1"/>
          </p:cNvSpPr>
          <p:nvPr/>
        </p:nvSpPr>
        <p:spPr>
          <a:xfrm>
            <a:off x="4552950" y="35052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BFDAD4-481A-496B-B766-E947E7365309}"/>
              </a:ext>
            </a:extLst>
          </p:cNvPr>
          <p:cNvSpPr>
            <a:spLocks noGrp="1"/>
          </p:cNvSpPr>
          <p:nvPr/>
        </p:nvSpPr>
        <p:spPr>
          <a:xfrm>
            <a:off x="4552950" y="36195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Exception detection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361BC5F8-B79B-49B0-B523-7898BA78ECA5}"/>
              </a:ext>
            </a:extLst>
          </p:cNvPr>
          <p:cNvSpPr>
            <a:spLocks noGrp="1"/>
          </p:cNvSpPr>
          <p:nvPr/>
        </p:nvSpPr>
        <p:spPr>
          <a:xfrm>
            <a:off x="4552950" y="386715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C23C2E-1E0F-44E9-B6E4-1F024B1066FC}"/>
              </a:ext>
            </a:extLst>
          </p:cNvPr>
          <p:cNvSpPr>
            <a:spLocks noGrp="1"/>
          </p:cNvSpPr>
          <p:nvPr/>
        </p:nvSpPr>
        <p:spPr>
          <a:xfrm>
            <a:off x="4552950" y="39814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SLA monitoring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6ED6F21C-1CDB-4D14-ADEF-39547958BC46}"/>
              </a:ext>
            </a:extLst>
          </p:cNvPr>
          <p:cNvSpPr>
            <a:spLocks noGrp="1"/>
          </p:cNvSpPr>
          <p:nvPr/>
        </p:nvSpPr>
        <p:spPr>
          <a:xfrm>
            <a:off x="4552950" y="42291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15E2-D4D8-4A29-AE22-8F4A93042913}"/>
              </a:ext>
            </a:extLst>
          </p:cNvPr>
          <p:cNvSpPr>
            <a:spLocks noGrp="1"/>
          </p:cNvSpPr>
          <p:nvPr/>
        </p:nvSpPr>
        <p:spPr>
          <a:xfrm>
            <a:off x="4552950" y="43434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Decision-support thinking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A18E03-9B98-48AC-81B2-C7CD45B59111}"/>
              </a:ext>
            </a:extLst>
          </p:cNvPr>
          <p:cNvSpPr>
            <a:spLocks noGrp="1"/>
          </p:cNvSpPr>
          <p:nvPr/>
        </p:nvSpPr>
        <p:spPr>
          <a:xfrm>
            <a:off x="7943850" y="2047875"/>
            <a:ext cx="32385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B9728A-0135-4020-96BD-9122294F1D0C}"/>
              </a:ext>
            </a:extLst>
          </p:cNvPr>
          <p:cNvSpPr>
            <a:spLocks noGrp="1"/>
          </p:cNvSpPr>
          <p:nvPr/>
        </p:nvSpPr>
        <p:spPr>
          <a:xfrm>
            <a:off x="7943850" y="2047875"/>
            <a:ext cx="3238500" cy="85725"/>
          </a:xfrm>
          <a:prstGeom prst="rect">
            <a:avLst/>
          </a:prstGeom>
          <a:solidFill>
            <a:srgbClr val="B7791F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F4181C-0BB1-495D-B107-09BBECEE2776}"/>
              </a:ext>
            </a:extLst>
          </p:cNvPr>
          <p:cNvSpPr>
            <a:spLocks noGrp="1"/>
          </p:cNvSpPr>
          <p:nvPr/>
        </p:nvSpPr>
        <p:spPr>
          <a:xfrm>
            <a:off x="8181975" y="2324100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Professional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E3E9D27B-4075-404A-BE7B-236D306DBCAD}"/>
              </a:ext>
            </a:extLst>
          </p:cNvPr>
          <p:cNvSpPr>
            <a:spLocks noGrp="1"/>
          </p:cNvSpPr>
          <p:nvPr/>
        </p:nvSpPr>
        <p:spPr>
          <a:xfrm>
            <a:off x="8181975" y="27813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B33D46-1F6D-4F48-A3F0-CE5ED0D7CB55}"/>
              </a:ext>
            </a:extLst>
          </p:cNvPr>
          <p:cNvSpPr>
            <a:spLocks noGrp="1"/>
          </p:cNvSpPr>
          <p:nvPr/>
        </p:nvSpPr>
        <p:spPr>
          <a:xfrm>
            <a:off x="8181975" y="2895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Workflow coordination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55EA6651-FA1B-40B2-BE0D-5D21E8BC823B}"/>
              </a:ext>
            </a:extLst>
          </p:cNvPr>
          <p:cNvSpPr>
            <a:spLocks noGrp="1"/>
          </p:cNvSpPr>
          <p:nvPr/>
        </p:nvSpPr>
        <p:spPr>
          <a:xfrm>
            <a:off x="8181975" y="314325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A1C35A-5FF3-4227-9F89-331005CB1CBE}"/>
              </a:ext>
            </a:extLst>
          </p:cNvPr>
          <p:cNvSpPr>
            <a:spLocks noGrp="1"/>
          </p:cNvSpPr>
          <p:nvPr/>
        </p:nvSpPr>
        <p:spPr>
          <a:xfrm>
            <a:off x="8181975" y="32575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Communication with stakeholders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1115AF03-08BD-40D0-897B-75A0BB85C58B}"/>
              </a:ext>
            </a:extLst>
          </p:cNvPr>
          <p:cNvSpPr>
            <a:spLocks noGrp="1"/>
          </p:cNvSpPr>
          <p:nvPr/>
        </p:nvSpPr>
        <p:spPr>
          <a:xfrm>
            <a:off x="8181975" y="35052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3C8FD0-E942-4AA4-AD94-F5C974062469}"/>
              </a:ext>
            </a:extLst>
          </p:cNvPr>
          <p:cNvSpPr>
            <a:spLocks noGrp="1"/>
          </p:cNvSpPr>
          <p:nvPr/>
        </p:nvSpPr>
        <p:spPr>
          <a:xfrm>
            <a:off x="8181975" y="36195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Time management</a:t>
            </a:r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D6BD322E-5A61-4312-A72B-3D0587911979}"/>
              </a:ext>
            </a:extLst>
          </p:cNvPr>
          <p:cNvSpPr>
            <a:spLocks noGrp="1"/>
          </p:cNvSpPr>
          <p:nvPr/>
        </p:nvSpPr>
        <p:spPr>
          <a:xfrm>
            <a:off x="8181975" y="386715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BA31B70-CB54-4258-8128-B7FBB555A343}"/>
              </a:ext>
            </a:extLst>
          </p:cNvPr>
          <p:cNvSpPr>
            <a:spLocks noGrp="1"/>
          </p:cNvSpPr>
          <p:nvPr/>
        </p:nvSpPr>
        <p:spPr>
          <a:xfrm>
            <a:off x="8181975" y="398145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Team collaboration</a:t>
            </a:r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B16B31A8-BDFA-45B0-8BAA-573782DC01E2}"/>
              </a:ext>
            </a:extLst>
          </p:cNvPr>
          <p:cNvSpPr>
            <a:spLocks noGrp="1"/>
          </p:cNvSpPr>
          <p:nvPr/>
        </p:nvSpPr>
        <p:spPr>
          <a:xfrm>
            <a:off x="8181975" y="4229100"/>
            <a:ext cx="2619375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F639BBD-8889-4D4D-B174-AF586CD86686}"/>
              </a:ext>
            </a:extLst>
          </p:cNvPr>
          <p:cNvSpPr>
            <a:spLocks noGrp="1"/>
          </p:cNvSpPr>
          <p:nvPr/>
        </p:nvSpPr>
        <p:spPr>
          <a:xfrm>
            <a:off x="8181975" y="43434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02B38"/>
                </a:solidFill>
              </a:defRPr>
            </a:pPr>
            <a:r>
              <a:rPr sz="1200" b="0">
                <a:solidFill>
                  <a:srgbClr val="202B38"/>
                </a:solidFill>
              </a:rPr>
              <a:t>Project presentation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3E0861-1C27-465F-B6ED-FBF567B77665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The project integrated operations management principles with technology-driven monitoring in a real-time workflow context.</a:t>
            </a:r>
          </a:p>
        </p:txBody>
      </p:sp>
    </p:spTree>
    <p:extLst>
      <p:ext uri="{BB962C8B-B14F-4D97-AF65-F5344CB8AC3E}">
        <p14:creationId xmlns:p14="http://schemas.microsoft.com/office/powerpoint/2010/main" val="1415262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EBD3E517-1366-4020-9985-4D86DB1C0FF5}"/>
              </a:ext>
            </a:extLst>
          </p:cNvPr>
          <p:cNvSpPr>
            <a:spLocks noGrp="1"/>
          </p:cNvSpPr>
          <p:nvPr/>
        </p:nvSpPr>
        <p:spPr>
          <a:xfrm>
            <a:off x="685800" y="5048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0C466-3515-4572-B178-7CB40FB255F7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CLOSING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6287435"/>
            <a:ext cx="666750" cy="26483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326004" y="6315075"/>
            <a:ext cx="760192" cy="20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207259-0CC5-4694-B7DC-F51DE11576F4}"/>
              </a:ext>
            </a:extLst>
          </p:cNvPr>
          <p:cNvSpPr>
            <a:spLocks noGrp="1"/>
          </p:cNvSpPr>
          <p:nvPr/>
        </p:nvSpPr>
        <p:spPr>
          <a:xfrm>
            <a:off x="1447800" y="6362700"/>
            <a:ext cx="5715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5D6B78"/>
                </a:solidFill>
              </a:defRPr>
            </a:pPr>
            <a:r>
              <a:rPr sz="675" b="0">
                <a:solidFill>
                  <a:srgbClr val="5D6B78"/>
                </a:solidFill>
              </a:rPr>
              <a:t>FIIB | Corporate Internship Programme | Kantar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869117-0685-40BF-A7A8-504E98578A5F}"/>
              </a:ext>
            </a:extLst>
          </p:cNvPr>
          <p:cNvSpPr>
            <a:spLocks noGrp="1"/>
          </p:cNvSpPr>
          <p:nvPr/>
        </p:nvSpPr>
        <p:spPr>
          <a:xfrm>
            <a:off x="11220450" y="6343650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D6B78"/>
                </a:solidFill>
              </a:defRPr>
            </a:pPr>
            <a:r>
              <a:rPr sz="750" b="1">
                <a:solidFill>
                  <a:srgbClr val="5D6B78"/>
                </a:solidFill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E3F61-B1D1-495A-AA26-2C8640972E2F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The internship taught me to convert operational complexity into structured, data-driven action.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DCD5052-0040-45E0-A28C-498951E5AF1F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EFD708-5099-4023-8C53-32E710E944C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9530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32766-5C84-4535-A275-87976A39BE3F}"/>
              </a:ext>
            </a:extLst>
          </p:cNvPr>
          <p:cNvSpPr>
            <a:spLocks noGrp="1"/>
          </p:cNvSpPr>
          <p:nvPr/>
        </p:nvSpPr>
        <p:spPr>
          <a:xfrm>
            <a:off x="895350" y="2171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DB7CF2-F976-4E0F-8B02-41777CFE6E99}"/>
              </a:ext>
            </a:extLst>
          </p:cNvPr>
          <p:cNvSpPr>
            <a:spLocks noGrp="1"/>
          </p:cNvSpPr>
          <p:nvPr/>
        </p:nvSpPr>
        <p:spPr>
          <a:xfrm>
            <a:off x="1466850" y="21526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Business understanding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89AA5F-4EA3-42C4-9752-712A793DCAE2}"/>
              </a:ext>
            </a:extLst>
          </p:cNvPr>
          <p:cNvSpPr>
            <a:spLocks noGrp="1"/>
          </p:cNvSpPr>
          <p:nvPr/>
        </p:nvSpPr>
        <p:spPr>
          <a:xfrm>
            <a:off x="1466850" y="2457450"/>
            <a:ext cx="3762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Real-time workflows, constituency coordination and SLA-driven operations.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C8342-A51D-4832-BC51-497717BC176B}"/>
              </a:ext>
            </a:extLst>
          </p:cNvPr>
          <p:cNvSpPr>
            <a:spLocks noGrp="1"/>
          </p:cNvSpPr>
          <p:nvPr/>
        </p:nvSpPr>
        <p:spPr>
          <a:xfrm>
            <a:off x="6067425" y="2000250"/>
            <a:ext cx="49530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CA7994-73F3-4F22-B5F9-E25BCD1EAE2D}"/>
              </a:ext>
            </a:extLst>
          </p:cNvPr>
          <p:cNvSpPr>
            <a:spLocks noGrp="1"/>
          </p:cNvSpPr>
          <p:nvPr/>
        </p:nvSpPr>
        <p:spPr>
          <a:xfrm>
            <a:off x="6276975" y="21717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1CD69-634A-4861-89F1-DC07B3B36D39}"/>
              </a:ext>
            </a:extLst>
          </p:cNvPr>
          <p:cNvSpPr>
            <a:spLocks noGrp="1"/>
          </p:cNvSpPr>
          <p:nvPr/>
        </p:nvSpPr>
        <p:spPr>
          <a:xfrm>
            <a:off x="6848475" y="21526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Problem solving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7D8216-FB86-47A7-A2C7-07D5AE570869}"/>
              </a:ext>
            </a:extLst>
          </p:cNvPr>
          <p:cNvSpPr>
            <a:spLocks noGrp="1"/>
          </p:cNvSpPr>
          <p:nvPr/>
        </p:nvSpPr>
        <p:spPr>
          <a:xfrm>
            <a:off x="6848475" y="2457450"/>
            <a:ext cx="3762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Breaking a manual monitoring challenge into identifiable process gaps.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3D4B8-276A-4ED4-B632-75AEA602D1E1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9530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2A5B5D-59E4-450A-BF9B-07DF4A23C986}"/>
              </a:ext>
            </a:extLst>
          </p:cNvPr>
          <p:cNvSpPr>
            <a:spLocks noGrp="1"/>
          </p:cNvSpPr>
          <p:nvPr/>
        </p:nvSpPr>
        <p:spPr>
          <a:xfrm>
            <a:off x="895350" y="3409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7A6CFF-B364-4B78-A9AA-138BE505552D}"/>
              </a:ext>
            </a:extLst>
          </p:cNvPr>
          <p:cNvSpPr>
            <a:spLocks noGrp="1"/>
          </p:cNvSpPr>
          <p:nvPr/>
        </p:nvSpPr>
        <p:spPr>
          <a:xfrm>
            <a:off x="1466850" y="33909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Analytical thinking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02FEA6-93CA-423E-A403-C9C69E7CAAFF}"/>
              </a:ext>
            </a:extLst>
          </p:cNvPr>
          <p:cNvSpPr>
            <a:spLocks noGrp="1"/>
          </p:cNvSpPr>
          <p:nvPr/>
        </p:nvSpPr>
        <p:spPr>
          <a:xfrm>
            <a:off x="1466850" y="3695700"/>
            <a:ext cx="3762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Using data, exception logic and visibility to focus follow-up.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8EBDC6-661C-4FA9-A364-EA0EC288D534}"/>
              </a:ext>
            </a:extLst>
          </p:cNvPr>
          <p:cNvSpPr>
            <a:spLocks noGrp="1"/>
          </p:cNvSpPr>
          <p:nvPr/>
        </p:nvSpPr>
        <p:spPr>
          <a:xfrm>
            <a:off x="6067425" y="3238500"/>
            <a:ext cx="4953000" cy="1000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F84CC1-7878-4890-9EA3-98E95E57FF1F}"/>
              </a:ext>
            </a:extLst>
          </p:cNvPr>
          <p:cNvSpPr>
            <a:spLocks noGrp="1"/>
          </p:cNvSpPr>
          <p:nvPr/>
        </p:nvSpPr>
        <p:spPr>
          <a:xfrm>
            <a:off x="6276975" y="34099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E7FA8"/>
                </a:solidFill>
              </a:defRPr>
            </a:pPr>
            <a:r>
              <a:rPr sz="1125" b="1">
                <a:solidFill>
                  <a:srgbClr val="4E7FA8"/>
                </a:solidFill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E4A599-AF7C-4665-BE98-8DCDFDC45683}"/>
              </a:ext>
            </a:extLst>
          </p:cNvPr>
          <p:cNvSpPr>
            <a:spLocks noGrp="1"/>
          </p:cNvSpPr>
          <p:nvPr/>
        </p:nvSpPr>
        <p:spPr>
          <a:xfrm>
            <a:off x="6848475" y="33909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Professional growth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ED14A1-68D2-401E-816C-9A5F309D264C}"/>
              </a:ext>
            </a:extLst>
          </p:cNvPr>
          <p:cNvSpPr>
            <a:spLocks noGrp="1"/>
          </p:cNvSpPr>
          <p:nvPr/>
        </p:nvSpPr>
        <p:spPr>
          <a:xfrm>
            <a:off x="6848475" y="3695700"/>
            <a:ext cx="3762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Working with stakeholders, deadlines and real-world operating constraints.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1664E24B-3E1F-49E3-B05C-27D22B9DDC24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0820400" cy="0"/>
          </a:xfrm>
          <a:prstGeom prst="line">
            <a:avLst/>
          </a:prstGeom>
          <a:ln w="9525">
            <a:solidFill>
              <a:srgbClr val="D7DEE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F4E498-ADD9-4779-B4C5-2E6F7F46D7E7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A43"/>
                </a:solidFill>
              </a:defRPr>
            </a:pPr>
            <a:r>
              <a:rPr sz="2100" b="1">
                <a:solidFill>
                  <a:srgbClr val="102A43"/>
                </a:solidFill>
              </a:rPr>
              <a:t>THANK YOU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049FEF-EBD9-40FA-8D93-11642842521B}"/>
              </a:ext>
            </a:extLst>
          </p:cNvPr>
          <p:cNvSpPr>
            <a:spLocks noGrp="1"/>
          </p:cNvSpPr>
          <p:nvPr/>
        </p:nvSpPr>
        <p:spPr>
          <a:xfrm>
            <a:off x="7291848" y="5172997"/>
            <a:ext cx="4044746" cy="96233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DC187B-A873-4410-AF2E-78A8DE195473}"/>
              </a:ext>
            </a:extLst>
          </p:cNvPr>
          <p:cNvSpPr>
            <a:spLocks noGrp="1"/>
          </p:cNvSpPr>
          <p:nvPr/>
        </p:nvSpPr>
        <p:spPr>
          <a:xfrm>
            <a:off x="7943850" y="5248275"/>
            <a:ext cx="2714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4E7FA8"/>
                </a:solidFill>
              </a:defRPr>
            </a:pPr>
            <a:r>
              <a:rPr sz="825" b="1">
                <a:solidFill>
                  <a:srgbClr val="4E7FA8"/>
                </a:solidFill>
              </a:rPr>
              <a:t>FINAL PRESENTATION / WORKING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64327A-4485-49CC-926E-4E0C506D72C3}"/>
              </a:ext>
            </a:extLst>
          </p:cNvPr>
          <p:cNvSpPr>
            <a:spLocks noGrp="1"/>
          </p:cNvSpPr>
          <p:nvPr/>
        </p:nvSpPr>
        <p:spPr>
          <a:xfrm>
            <a:off x="7580057" y="5378245"/>
            <a:ext cx="3648382" cy="77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4E7FA8"/>
                </a:solidFill>
              </a:defRPr>
            </a:pPr>
            <a:r>
              <a:rPr sz="1050" b="1" dirty="0">
                <a:solidFill>
                  <a:srgbClr val="4E7FA8"/>
                </a:solidFill>
              </a:rPr>
              <a:t>[</a:t>
            </a:r>
            <a:r>
              <a:rPr lang="en-IN" sz="1050" b="1" dirty="0"/>
              <a:t>http://localhost:8888/lab/tree/google%20sheet.ipynb </a:t>
            </a:r>
            <a:r>
              <a:rPr sz="1050" b="1" dirty="0">
                <a:solidFill>
                  <a:srgbClr val="4E7FA8"/>
                </a:solidFill>
              </a:rPr>
              <a:t>]</a:t>
            </a:r>
            <a:endParaRPr lang="en-IN" sz="1050" b="1" dirty="0">
              <a:solidFill>
                <a:srgbClr val="4E7FA8"/>
              </a:solidFill>
            </a:endParaRPr>
          </a:p>
          <a:p>
            <a:pPr>
              <a:defRPr sz="1050" b="1">
                <a:solidFill>
                  <a:srgbClr val="4E7FA8"/>
                </a:solidFill>
              </a:defRPr>
            </a:pPr>
            <a:r>
              <a:rPr lang="en-IN" sz="1050" b="1" dirty="0"/>
              <a:t>https://docs.google.com/spreadsheets/d/1-fkXH6w6ehXRa6AXP qProhjAeTWVj8BmMJHwhZa5Ho/</a:t>
            </a:r>
            <a:r>
              <a:rPr lang="en-IN" sz="1050" b="1" dirty="0" err="1"/>
              <a:t>edit?usp</a:t>
            </a:r>
            <a:r>
              <a:rPr lang="en-IN" sz="1050" b="1" dirty="0"/>
              <a:t>=sharing </a:t>
            </a:r>
            <a:endParaRPr lang="en-IN" sz="1050" b="1" dirty="0">
              <a:solidFill>
                <a:srgbClr val="4E7FA8"/>
              </a:solidFill>
            </a:endParaRPr>
          </a:p>
          <a:p>
            <a:pPr>
              <a:defRPr sz="1050" b="1">
                <a:solidFill>
                  <a:srgbClr val="4E7FA8"/>
                </a:solidFill>
              </a:defRPr>
            </a:pPr>
            <a:endParaRPr sz="1050" b="1" dirty="0">
              <a:solidFill>
                <a:srgbClr val="4E7F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5850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1355</Words>
  <Application>Microsoft Office PowerPoint</Application>
  <DocSecurity>0</DocSecurity>
  <PresentationFormat>Widescreen</PresentationFormat>
  <Paragraphs>245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swati bahety</cp:lastModifiedBy>
  <cp:revision>1</cp:revision>
  <dcterms:created xsi:type="dcterms:W3CDTF">2026-08-13T16:57:10Z</dcterms:created>
  <dcterms:modified xsi:type="dcterms:W3CDTF">2026-08-14T05:39:01Z</dcterms:modified>
</cp:coreProperties>
</file>